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6794500" cy="9931400"/>
  <p:embeddedFontLst>
    <p:embeddedFont>
      <p:font typeface="Helvetica" pitchFamily="2" charset="0"/>
      <p:regular r:id="rId4"/>
      <p:bold r:id="rId5"/>
      <p:italic r:id="rId6"/>
      <p:boldItalic r:id="rId7"/>
    </p:embeddedFont>
  </p:embeddedFontLst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8" d="100"/>
          <a:sy n="128" d="100"/>
        </p:scale>
        <p:origin x="448" y="176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microsoft.com/office/2018/10/relationships/authors" Target="author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14.05.26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14.05.26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svg"/><Relationship Id="rId7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7.png"/><Relationship Id="rId7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cosagen.com/services/antibody-development/#antidiscovery" TargetMode="External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hyperlink" Target="https://www.icosagen.com/services" TargetMode="External"/><Relationship Id="rId12" Type="http://schemas.openxmlformats.org/officeDocument/2006/relationships/hyperlink" Target="https://www.icosagen.com/services/gmp-manufacturing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svg"/><Relationship Id="rId11" Type="http://schemas.openxmlformats.org/officeDocument/2006/relationships/hyperlink" Target="https://www.icosagen.com/services/protein-analytics/" TargetMode="External"/><Relationship Id="rId5" Type="http://schemas.openxmlformats.org/officeDocument/2006/relationships/image" Target="../media/image27.png"/><Relationship Id="rId10" Type="http://schemas.openxmlformats.org/officeDocument/2006/relationships/hyperlink" Target="https://www.icosagen.com/services/protein-production/" TargetMode="External"/><Relationship Id="rId4" Type="http://schemas.openxmlformats.org/officeDocument/2006/relationships/image" Target="../media/image26.svg"/><Relationship Id="rId9" Type="http://schemas.openxmlformats.org/officeDocument/2006/relationships/hyperlink" Target="https://www.icosagen.com/services/antibody-development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D265E9C-4CB4-691C-438D-9645C0E074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022F8E67-35FE-4E53-BF4B-03FD0FCD519B}" type="datetimeFigureOut">
              <a:rPr lang="et-EE" smtClean="0"/>
              <a:pPr/>
              <a:t>14.05.26</a:t>
            </a:fld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EC8C73-A03A-FE1C-27CF-BCF353C13080}"/>
              </a:ext>
            </a:extLst>
          </p:cNvPr>
          <p:cNvSpPr txBox="1">
            <a:spLocks/>
          </p:cNvSpPr>
          <p:nvPr userDrawn="1"/>
        </p:nvSpPr>
        <p:spPr>
          <a:xfrm>
            <a:off x="838200" y="6038069"/>
            <a:ext cx="10515600" cy="369332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70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b="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2023 non-confidential slides</a:t>
            </a:r>
            <a:endParaRPr lang="et-EE" b="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94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2F8E67-35FE-4E53-BF4B-03FD0FCD519B}" type="datetimeFigureOut">
              <a:rPr lang="et-EE" smtClean="0"/>
              <a:pPr/>
              <a:t>14.05.26</a:t>
            </a:fld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introduction_about_icosag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176A33-4358-AD36-857A-BC5AF492AE25}"/>
              </a:ext>
            </a:extLst>
          </p:cNvPr>
          <p:cNvSpPr/>
          <p:nvPr userDrawn="1"/>
        </p:nvSpPr>
        <p:spPr>
          <a:xfrm>
            <a:off x="0" y="0"/>
            <a:ext cx="12344400" cy="6947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BDA8D-0C60-9DAA-45A0-F5C243DC81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351025" cy="6947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2712" y="683491"/>
            <a:ext cx="5092851" cy="9417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2714" y="1835527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t-E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15E2707-FE25-8A69-642A-12F9215D9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55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introduction_about_icos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176A33-4358-AD36-857A-BC5AF492AE25}"/>
              </a:ext>
            </a:extLst>
          </p:cNvPr>
          <p:cNvSpPr/>
          <p:nvPr userDrawn="1"/>
        </p:nvSpPr>
        <p:spPr>
          <a:xfrm>
            <a:off x="0" y="0"/>
            <a:ext cx="12344400" cy="6947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9335C-BD22-2997-2608-C5F0C7C0A0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351026" cy="6947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2712" y="683491"/>
            <a:ext cx="5092851" cy="9417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2712" y="1348509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t-E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6698A7-3D83-6526-0F88-7F3971E410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63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Section-Header-Standar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CE48A6-0DFC-EF5C-C871-1CD3B310431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8654" y="0"/>
            <a:ext cx="9513346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8148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196633"/>
            <a:ext cx="669642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7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Section-Header-Standar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ndoor&#10;&#10;Description automatically generated">
            <a:extLst>
              <a:ext uri="{FF2B5EF4-FFF2-40B4-BE49-F238E27FC236}">
                <a16:creationId xmlns:a16="http://schemas.microsoft.com/office/drawing/2014/main" id="{FA0A32AF-AED9-A47E-CD9E-C4582695250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screen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9371979" cy="6858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298900" y="3655584"/>
            <a:ext cx="669642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900" y="2477099"/>
            <a:ext cx="689310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9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Section-Header-Standar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2D8143-FEE2-BC19-4973-B5E58AB541B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53205" y="0"/>
            <a:ext cx="873879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9971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4858456"/>
            <a:ext cx="669642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2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Section-Header-Standard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240EDB2-A502-3D4A-9490-257087E390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2564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161049"/>
            <a:ext cx="669642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3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Inhouse-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34E25DB0-A93D-B7C8-2EF5-6CB3DC3EC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ontent Placeholder 10">
            <a:extLst>
              <a:ext uri="{FF2B5EF4-FFF2-40B4-BE49-F238E27FC236}">
                <a16:creationId xmlns:a16="http://schemas.microsoft.com/office/drawing/2014/main" id="{298B98CA-9561-10CE-3295-30BEB8039D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757" y="1314235"/>
            <a:ext cx="10008485" cy="562977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402C61B-3E8C-3818-08E4-99568999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82" y="365125"/>
            <a:ext cx="10698018" cy="5632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77712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one-stop-shop_about_icos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4CBFDFA-2027-94AA-C176-D5456DC45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82" y="365125"/>
            <a:ext cx="10698018" cy="5632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E401637-720E-4237-9EC1-AF4B2EE34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ED1C05F-F5F8-4551-5EB9-29CC9997EE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72" y="1399254"/>
            <a:ext cx="12137856" cy="47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47068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one-stop-shop_CRDMO_about_icos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4CBFDFA-2027-94AA-C176-D5456DC45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82" y="365125"/>
            <a:ext cx="10698018" cy="5632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E401637-720E-4237-9EC1-AF4B2EE34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5B827B8-BFC7-B95E-22A8-675C38519196}"/>
              </a:ext>
            </a:extLst>
          </p:cNvPr>
          <p:cNvSpPr/>
          <p:nvPr userDrawn="1"/>
        </p:nvSpPr>
        <p:spPr>
          <a:xfrm>
            <a:off x="6111587" y="1595721"/>
            <a:ext cx="5831654" cy="1431981"/>
          </a:xfrm>
          <a:custGeom>
            <a:avLst/>
            <a:gdLst>
              <a:gd name="connsiteX0" fmla="*/ 5448123 w 5831654"/>
              <a:gd name="connsiteY0" fmla="*/ 0 h 1431981"/>
              <a:gd name="connsiteX1" fmla="*/ 0 w 5831654"/>
              <a:gd name="connsiteY1" fmla="*/ 0 h 1431981"/>
              <a:gd name="connsiteX2" fmla="*/ 0 w 5831654"/>
              <a:gd name="connsiteY2" fmla="*/ 1431982 h 1431981"/>
              <a:gd name="connsiteX3" fmla="*/ 5448123 w 5831654"/>
              <a:gd name="connsiteY3" fmla="*/ 1431982 h 1431981"/>
              <a:gd name="connsiteX4" fmla="*/ 5831655 w 5831654"/>
              <a:gd name="connsiteY4" fmla="*/ 715991 h 1431981"/>
              <a:gd name="connsiteX5" fmla="*/ 5448123 w 5831654"/>
              <a:gd name="connsiteY5" fmla="*/ 0 h 143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31654" h="1431981">
                <a:moveTo>
                  <a:pt x="5448123" y="0"/>
                </a:moveTo>
                <a:lnTo>
                  <a:pt x="0" y="0"/>
                </a:lnTo>
                <a:lnTo>
                  <a:pt x="0" y="1431982"/>
                </a:lnTo>
                <a:lnTo>
                  <a:pt x="5448123" y="1431982"/>
                </a:lnTo>
                <a:lnTo>
                  <a:pt x="5831655" y="715991"/>
                </a:lnTo>
                <a:lnTo>
                  <a:pt x="5448123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49804"/>
                </a:srgbClr>
              </a:gs>
              <a:gs pos="22600">
                <a:srgbClr val="FCF7F8">
                  <a:alpha val="51373"/>
                </a:srgbClr>
              </a:gs>
              <a:gs pos="41100">
                <a:srgbClr val="F5E2E4">
                  <a:alpha val="56078"/>
                </a:srgbClr>
              </a:gs>
              <a:gs pos="58100">
                <a:srgbClr val="E8BDC2">
                  <a:alpha val="63529"/>
                </a:srgbClr>
              </a:gs>
              <a:gs pos="74300">
                <a:srgbClr val="D68993">
                  <a:alpha val="74510"/>
                </a:srgbClr>
              </a:gs>
              <a:gs pos="89700">
                <a:srgbClr val="BF4656">
                  <a:alpha val="88627"/>
                </a:srgbClr>
              </a:gs>
              <a:gs pos="100000">
                <a:srgbClr val="AD1125"/>
              </a:gs>
            </a:gsLst>
            <a:lin ang="0" scaled="1"/>
          </a:gradFill>
          <a:ln w="4917" cap="flat">
            <a:noFill/>
            <a:prstDash val="solid"/>
            <a:miter/>
          </a:ln>
        </p:spPr>
        <p:txBody>
          <a:bodyPr rtlCol="0" anchor="ctr"/>
          <a:lstStyle/>
          <a:p>
            <a:endParaRPr lang="et-E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585E845-463B-24C8-E4DE-1D4D65D7F053}"/>
              </a:ext>
            </a:extLst>
          </p:cNvPr>
          <p:cNvSpPr/>
          <p:nvPr userDrawn="1"/>
        </p:nvSpPr>
        <p:spPr>
          <a:xfrm>
            <a:off x="6116504" y="3101458"/>
            <a:ext cx="5433371" cy="1431981"/>
          </a:xfrm>
          <a:custGeom>
            <a:avLst/>
            <a:gdLst>
              <a:gd name="connsiteX0" fmla="*/ 5049839 w 5433371"/>
              <a:gd name="connsiteY0" fmla="*/ 0 h 1431981"/>
              <a:gd name="connsiteX1" fmla="*/ 0 w 5433371"/>
              <a:gd name="connsiteY1" fmla="*/ 0 h 1431981"/>
              <a:gd name="connsiteX2" fmla="*/ 0 w 5433371"/>
              <a:gd name="connsiteY2" fmla="*/ 1431982 h 1431981"/>
              <a:gd name="connsiteX3" fmla="*/ 5049839 w 5433371"/>
              <a:gd name="connsiteY3" fmla="*/ 1431982 h 1431981"/>
              <a:gd name="connsiteX4" fmla="*/ 5433372 w 5433371"/>
              <a:gd name="connsiteY4" fmla="*/ 715991 h 1431981"/>
              <a:gd name="connsiteX5" fmla="*/ 5049839 w 5433371"/>
              <a:gd name="connsiteY5" fmla="*/ 0 h 143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3371" h="1431981">
                <a:moveTo>
                  <a:pt x="5049839" y="0"/>
                </a:moveTo>
                <a:lnTo>
                  <a:pt x="0" y="0"/>
                </a:lnTo>
                <a:lnTo>
                  <a:pt x="0" y="1431982"/>
                </a:lnTo>
                <a:lnTo>
                  <a:pt x="5049839" y="1431982"/>
                </a:lnTo>
                <a:lnTo>
                  <a:pt x="5433372" y="715991"/>
                </a:lnTo>
                <a:lnTo>
                  <a:pt x="5049839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49804"/>
                </a:srgbClr>
              </a:gs>
              <a:gs pos="15800">
                <a:srgbClr val="FAF2F3">
                  <a:alpha val="52549"/>
                </a:srgbClr>
              </a:gs>
              <a:gs pos="37000">
                <a:srgbClr val="EECDD1">
                  <a:alpha val="60000"/>
                </a:srgbClr>
              </a:gs>
              <a:gs pos="61100">
                <a:srgbClr val="D9919B">
                  <a:alpha val="72549"/>
                </a:srgbClr>
              </a:gs>
              <a:gs pos="87300">
                <a:srgbClr val="BC3F4F">
                  <a:alpha val="90196"/>
                </a:srgbClr>
              </a:gs>
              <a:gs pos="100000">
                <a:srgbClr val="AD1125"/>
              </a:gs>
            </a:gsLst>
            <a:lin ang="0" scaled="1"/>
          </a:gradFill>
          <a:ln w="4917" cap="flat">
            <a:noFill/>
            <a:prstDash val="solid"/>
            <a:miter/>
          </a:ln>
        </p:spPr>
        <p:txBody>
          <a:bodyPr rtlCol="0" anchor="ctr"/>
          <a:lstStyle/>
          <a:p>
            <a:endParaRPr lang="et-EE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A4B72AB-BA99-8E70-AF45-3B3EAD459467}"/>
              </a:ext>
            </a:extLst>
          </p:cNvPr>
          <p:cNvSpPr/>
          <p:nvPr userDrawn="1"/>
        </p:nvSpPr>
        <p:spPr>
          <a:xfrm>
            <a:off x="6116504" y="4607196"/>
            <a:ext cx="5040004" cy="1431986"/>
          </a:xfrm>
          <a:custGeom>
            <a:avLst/>
            <a:gdLst>
              <a:gd name="connsiteX0" fmla="*/ 4656473 w 5040004"/>
              <a:gd name="connsiteY0" fmla="*/ 0 h 1431986"/>
              <a:gd name="connsiteX1" fmla="*/ 0 w 5040004"/>
              <a:gd name="connsiteY1" fmla="*/ 0 h 1431986"/>
              <a:gd name="connsiteX2" fmla="*/ 0 w 5040004"/>
              <a:gd name="connsiteY2" fmla="*/ 1431986 h 1431986"/>
              <a:gd name="connsiteX3" fmla="*/ 4656473 w 5040004"/>
              <a:gd name="connsiteY3" fmla="*/ 1431981 h 1431986"/>
              <a:gd name="connsiteX4" fmla="*/ 5040005 w 5040004"/>
              <a:gd name="connsiteY4" fmla="*/ 715991 h 1431986"/>
              <a:gd name="connsiteX5" fmla="*/ 4656473 w 5040004"/>
              <a:gd name="connsiteY5" fmla="*/ 0 h 14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0004" h="1431986">
                <a:moveTo>
                  <a:pt x="4656473" y="0"/>
                </a:moveTo>
                <a:lnTo>
                  <a:pt x="0" y="0"/>
                </a:lnTo>
                <a:lnTo>
                  <a:pt x="0" y="1431986"/>
                </a:lnTo>
                <a:lnTo>
                  <a:pt x="4656473" y="1431981"/>
                </a:lnTo>
                <a:lnTo>
                  <a:pt x="5040005" y="715991"/>
                </a:lnTo>
                <a:lnTo>
                  <a:pt x="4656473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49804"/>
                </a:srgbClr>
              </a:gs>
              <a:gs pos="99400">
                <a:srgbClr val="AD1125"/>
              </a:gs>
            </a:gsLst>
            <a:lin ang="0" scaled="1"/>
          </a:gradFill>
          <a:ln w="4917" cap="flat">
            <a:noFill/>
            <a:prstDash val="solid"/>
            <a:miter/>
          </a:ln>
        </p:spPr>
        <p:txBody>
          <a:bodyPr rtlCol="0" anchor="ctr"/>
          <a:lstStyle/>
          <a:p>
            <a:endParaRPr lang="et-EE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610B1E-D5A0-EFBB-985F-4EA7AAFE1571}"/>
              </a:ext>
            </a:extLst>
          </p:cNvPr>
          <p:cNvSpPr/>
          <p:nvPr userDrawn="1"/>
        </p:nvSpPr>
        <p:spPr>
          <a:xfrm>
            <a:off x="247135" y="1595721"/>
            <a:ext cx="5831655" cy="1431981"/>
          </a:xfrm>
          <a:custGeom>
            <a:avLst/>
            <a:gdLst>
              <a:gd name="connsiteX0" fmla="*/ 383532 w 5831655"/>
              <a:gd name="connsiteY0" fmla="*/ 0 h 1431981"/>
              <a:gd name="connsiteX1" fmla="*/ 5831655 w 5831655"/>
              <a:gd name="connsiteY1" fmla="*/ 0 h 1431981"/>
              <a:gd name="connsiteX2" fmla="*/ 5831655 w 5831655"/>
              <a:gd name="connsiteY2" fmla="*/ 1431982 h 1431981"/>
              <a:gd name="connsiteX3" fmla="*/ 383532 w 5831655"/>
              <a:gd name="connsiteY3" fmla="*/ 1431982 h 1431981"/>
              <a:gd name="connsiteX4" fmla="*/ 0 w 5831655"/>
              <a:gd name="connsiteY4" fmla="*/ 715991 h 1431981"/>
              <a:gd name="connsiteX5" fmla="*/ 383532 w 5831655"/>
              <a:gd name="connsiteY5" fmla="*/ 0 h 143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31655" h="1431981">
                <a:moveTo>
                  <a:pt x="383532" y="0"/>
                </a:moveTo>
                <a:lnTo>
                  <a:pt x="5831655" y="0"/>
                </a:lnTo>
                <a:lnTo>
                  <a:pt x="5831655" y="1431982"/>
                </a:lnTo>
                <a:lnTo>
                  <a:pt x="383532" y="1431982"/>
                </a:lnTo>
                <a:lnTo>
                  <a:pt x="0" y="715991"/>
                </a:lnTo>
                <a:lnTo>
                  <a:pt x="383532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49804"/>
                </a:srgbClr>
              </a:gs>
              <a:gs pos="33100">
                <a:srgbClr val="F8F8F8">
                  <a:alpha val="53333"/>
                </a:srgbClr>
              </a:gs>
              <a:gs pos="60300">
                <a:srgbClr val="E4E5E5">
                  <a:alpha val="65098"/>
                </a:srgbClr>
              </a:gs>
              <a:gs pos="85200">
                <a:srgbClr val="C2C4C6">
                  <a:alpha val="83922"/>
                </a:srgbClr>
              </a:gs>
              <a:gs pos="100000">
                <a:srgbClr val="A7A9AC"/>
              </a:gs>
            </a:gsLst>
            <a:lin ang="10800000" scaled="1"/>
          </a:gradFill>
          <a:ln w="4917" cap="flat">
            <a:noFill/>
            <a:prstDash val="solid"/>
            <a:miter/>
          </a:ln>
        </p:spPr>
        <p:txBody>
          <a:bodyPr rtlCol="0" anchor="ctr"/>
          <a:lstStyle/>
          <a:p>
            <a:endParaRPr lang="et-EE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EFC0CE3-21B2-681F-8070-E7CB4BD8FCE1}"/>
              </a:ext>
            </a:extLst>
          </p:cNvPr>
          <p:cNvSpPr/>
          <p:nvPr userDrawn="1"/>
        </p:nvSpPr>
        <p:spPr>
          <a:xfrm>
            <a:off x="640501" y="3101458"/>
            <a:ext cx="5436666" cy="1431981"/>
          </a:xfrm>
          <a:custGeom>
            <a:avLst/>
            <a:gdLst>
              <a:gd name="connsiteX0" fmla="*/ 383532 w 5436666"/>
              <a:gd name="connsiteY0" fmla="*/ 0 h 1431981"/>
              <a:gd name="connsiteX1" fmla="*/ 5436667 w 5436666"/>
              <a:gd name="connsiteY1" fmla="*/ 0 h 1431981"/>
              <a:gd name="connsiteX2" fmla="*/ 5436667 w 5436666"/>
              <a:gd name="connsiteY2" fmla="*/ 1431982 h 1431981"/>
              <a:gd name="connsiteX3" fmla="*/ 383532 w 5436666"/>
              <a:gd name="connsiteY3" fmla="*/ 1431982 h 1431981"/>
              <a:gd name="connsiteX4" fmla="*/ 0 w 5436666"/>
              <a:gd name="connsiteY4" fmla="*/ 715991 h 1431981"/>
              <a:gd name="connsiteX5" fmla="*/ 383532 w 5436666"/>
              <a:gd name="connsiteY5" fmla="*/ 0 h 143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36666" h="1431981">
                <a:moveTo>
                  <a:pt x="383532" y="0"/>
                </a:moveTo>
                <a:lnTo>
                  <a:pt x="5436667" y="0"/>
                </a:lnTo>
                <a:lnTo>
                  <a:pt x="5436667" y="1431982"/>
                </a:lnTo>
                <a:lnTo>
                  <a:pt x="383532" y="1431982"/>
                </a:lnTo>
                <a:lnTo>
                  <a:pt x="0" y="715991"/>
                </a:lnTo>
                <a:lnTo>
                  <a:pt x="383532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49804"/>
                </a:srgbClr>
              </a:gs>
              <a:gs pos="33100">
                <a:srgbClr val="F8F8F8">
                  <a:alpha val="53333"/>
                </a:srgbClr>
              </a:gs>
              <a:gs pos="60300">
                <a:srgbClr val="E4E5E5">
                  <a:alpha val="65098"/>
                </a:srgbClr>
              </a:gs>
              <a:gs pos="85200">
                <a:srgbClr val="C2C4C6">
                  <a:alpha val="83922"/>
                </a:srgbClr>
              </a:gs>
              <a:gs pos="100000">
                <a:srgbClr val="A7A9AC"/>
              </a:gs>
            </a:gsLst>
            <a:lin ang="10800000" scaled="1"/>
          </a:gradFill>
          <a:ln w="4917" cap="flat">
            <a:noFill/>
            <a:prstDash val="solid"/>
            <a:miter/>
          </a:ln>
        </p:spPr>
        <p:txBody>
          <a:bodyPr rtlCol="0" anchor="ctr"/>
          <a:lstStyle/>
          <a:p>
            <a:endParaRPr lang="et-E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74D15C-86FB-5A88-D36C-130F50E1BE55}"/>
              </a:ext>
            </a:extLst>
          </p:cNvPr>
          <p:cNvSpPr/>
          <p:nvPr userDrawn="1"/>
        </p:nvSpPr>
        <p:spPr>
          <a:xfrm>
            <a:off x="1033867" y="4607196"/>
            <a:ext cx="5072802" cy="1431986"/>
          </a:xfrm>
          <a:custGeom>
            <a:avLst/>
            <a:gdLst>
              <a:gd name="connsiteX0" fmla="*/ 383532 w 5072802"/>
              <a:gd name="connsiteY0" fmla="*/ 0 h 1431986"/>
              <a:gd name="connsiteX1" fmla="*/ 5072803 w 5072802"/>
              <a:gd name="connsiteY1" fmla="*/ 0 h 1431986"/>
              <a:gd name="connsiteX2" fmla="*/ 5072803 w 5072802"/>
              <a:gd name="connsiteY2" fmla="*/ 1431986 h 1431986"/>
              <a:gd name="connsiteX3" fmla="*/ 383532 w 5072802"/>
              <a:gd name="connsiteY3" fmla="*/ 1431981 h 1431986"/>
              <a:gd name="connsiteX4" fmla="*/ 0 w 5072802"/>
              <a:gd name="connsiteY4" fmla="*/ 715991 h 1431986"/>
              <a:gd name="connsiteX5" fmla="*/ 383532 w 5072802"/>
              <a:gd name="connsiteY5" fmla="*/ 0 h 14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2802" h="1431986">
                <a:moveTo>
                  <a:pt x="383532" y="0"/>
                </a:moveTo>
                <a:lnTo>
                  <a:pt x="5072803" y="0"/>
                </a:lnTo>
                <a:lnTo>
                  <a:pt x="5072803" y="1431986"/>
                </a:lnTo>
                <a:lnTo>
                  <a:pt x="383532" y="1431981"/>
                </a:lnTo>
                <a:lnTo>
                  <a:pt x="0" y="715991"/>
                </a:lnTo>
                <a:lnTo>
                  <a:pt x="383532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49804"/>
                </a:srgbClr>
              </a:gs>
              <a:gs pos="99400">
                <a:srgbClr val="A7A9AC"/>
              </a:gs>
            </a:gsLst>
            <a:lin ang="10800000" scaled="1"/>
          </a:gradFill>
          <a:ln w="4917" cap="flat">
            <a:noFill/>
            <a:prstDash val="solid"/>
            <a:miter/>
          </a:ln>
        </p:spPr>
        <p:txBody>
          <a:bodyPr rtlCol="0" anchor="ctr"/>
          <a:lstStyle/>
          <a:p>
            <a:endParaRPr lang="et-EE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E34B03-170B-F9FB-A3E7-0EFEAE6E76D5}"/>
              </a:ext>
            </a:extLst>
          </p:cNvPr>
          <p:cNvSpPr/>
          <p:nvPr userDrawn="1"/>
        </p:nvSpPr>
        <p:spPr>
          <a:xfrm>
            <a:off x="4550140" y="2168710"/>
            <a:ext cx="3091720" cy="3091720"/>
          </a:xfrm>
          <a:custGeom>
            <a:avLst/>
            <a:gdLst>
              <a:gd name="connsiteX0" fmla="*/ 3511169 w 3511168"/>
              <a:gd name="connsiteY0" fmla="*/ 1755584 h 3511168"/>
              <a:gd name="connsiteX1" fmla="*/ 1755584 w 3511168"/>
              <a:gd name="connsiteY1" fmla="*/ 3511169 h 3511168"/>
              <a:gd name="connsiteX2" fmla="*/ 0 w 3511168"/>
              <a:gd name="connsiteY2" fmla="*/ 1755584 h 3511168"/>
              <a:gd name="connsiteX3" fmla="*/ 1755584 w 3511168"/>
              <a:gd name="connsiteY3" fmla="*/ 0 h 3511168"/>
              <a:gd name="connsiteX4" fmla="*/ 3511169 w 3511168"/>
              <a:gd name="connsiteY4" fmla="*/ 1755584 h 3511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1168" h="3511168">
                <a:moveTo>
                  <a:pt x="3511169" y="1755584"/>
                </a:moveTo>
                <a:cubicBezTo>
                  <a:pt x="3511169" y="2725167"/>
                  <a:pt x="2725167" y="3511169"/>
                  <a:pt x="1755584" y="3511169"/>
                </a:cubicBezTo>
                <a:cubicBezTo>
                  <a:pt x="786002" y="3511169"/>
                  <a:pt x="0" y="2725167"/>
                  <a:pt x="0" y="1755584"/>
                </a:cubicBezTo>
                <a:cubicBezTo>
                  <a:pt x="0" y="786002"/>
                  <a:pt x="786002" y="0"/>
                  <a:pt x="1755584" y="0"/>
                </a:cubicBezTo>
                <a:cubicBezTo>
                  <a:pt x="2725167" y="0"/>
                  <a:pt x="3511169" y="786002"/>
                  <a:pt x="3511169" y="1755584"/>
                </a:cubicBezTo>
                <a:close/>
              </a:path>
            </a:pathLst>
          </a:custGeom>
          <a:solidFill>
            <a:srgbClr val="FFFFFF"/>
          </a:solidFill>
          <a:ln w="4652" cap="flat">
            <a:noFill/>
            <a:prstDash val="solid"/>
            <a:miter/>
          </a:ln>
        </p:spPr>
        <p:txBody>
          <a:bodyPr rtlCol="0" anchor="ctr"/>
          <a:lstStyle/>
          <a:p>
            <a:endParaRPr lang="et-E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B1D55-3AD9-67B0-0FE8-1A8153FD0155}"/>
              </a:ext>
            </a:extLst>
          </p:cNvPr>
          <p:cNvSpPr txBox="1"/>
          <p:nvPr userDrawn="1"/>
        </p:nvSpPr>
        <p:spPr>
          <a:xfrm>
            <a:off x="1859165" y="1660392"/>
            <a:ext cx="30759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Long Term Partner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012F31-E85C-2FE7-5895-49B3EFD08A14}"/>
              </a:ext>
            </a:extLst>
          </p:cNvPr>
          <p:cNvSpPr txBox="1"/>
          <p:nvPr userDrawn="1"/>
        </p:nvSpPr>
        <p:spPr>
          <a:xfrm>
            <a:off x="425739" y="1948293"/>
            <a:ext cx="121625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i="0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24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98DB43-537B-5AF7-9787-47878111B164}"/>
              </a:ext>
            </a:extLst>
          </p:cNvPr>
          <p:cNvSpPr txBox="1"/>
          <p:nvPr userDrawn="1"/>
        </p:nvSpPr>
        <p:spPr>
          <a:xfrm>
            <a:off x="1859165" y="2043554"/>
            <a:ext cx="33615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Privately owned and independent European service provider company for 24 years.</a:t>
            </a:r>
            <a:endParaRPr lang="et-EE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2D2B21-A88F-BF4C-C2F5-0CCBDA20EEE8}"/>
              </a:ext>
            </a:extLst>
          </p:cNvPr>
          <p:cNvSpPr txBox="1"/>
          <p:nvPr userDrawn="1"/>
        </p:nvSpPr>
        <p:spPr>
          <a:xfrm>
            <a:off x="1859165" y="3179497"/>
            <a:ext cx="30759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t-EE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Research Center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75C90C-D87C-DFBA-62F1-EA91BEA9DD4C}"/>
              </a:ext>
            </a:extLst>
          </p:cNvPr>
          <p:cNvSpPr txBox="1"/>
          <p:nvPr userDrawn="1"/>
        </p:nvSpPr>
        <p:spPr>
          <a:xfrm>
            <a:off x="1859165" y="3562659"/>
            <a:ext cx="3075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Internationally accredited research center since 2021.</a:t>
            </a:r>
            <a:endParaRPr lang="et-EE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B7F27A-BA26-B504-2342-693C4BD4410F}"/>
              </a:ext>
            </a:extLst>
          </p:cNvPr>
          <p:cNvSpPr txBox="1"/>
          <p:nvPr userDrawn="1"/>
        </p:nvSpPr>
        <p:spPr>
          <a:xfrm>
            <a:off x="2378431" y="4739072"/>
            <a:ext cx="30759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t-EE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Satisfied Clients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40F50E-A32E-2D7C-176F-B9FE66F63118}"/>
              </a:ext>
            </a:extLst>
          </p:cNvPr>
          <p:cNvSpPr txBox="1"/>
          <p:nvPr userDrawn="1"/>
        </p:nvSpPr>
        <p:spPr>
          <a:xfrm>
            <a:off x="1162176" y="5001730"/>
            <a:ext cx="121625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i="0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93%</a:t>
            </a:r>
            <a:r>
              <a:rPr lang="en-US" sz="1800" b="1" i="0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 </a:t>
            </a:r>
            <a:endParaRPr lang="et-EE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EF9F4F-2763-536E-FA85-51453D202DDC}"/>
              </a:ext>
            </a:extLst>
          </p:cNvPr>
          <p:cNvSpPr txBox="1"/>
          <p:nvPr userDrawn="1"/>
        </p:nvSpPr>
        <p:spPr>
          <a:xfrm>
            <a:off x="2378431" y="5122234"/>
            <a:ext cx="33615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Our average likelihood of being recommended to a friend has been 93%.</a:t>
            </a:r>
            <a:endParaRPr lang="et-EE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4B9469-657D-5023-D6E3-4EE0C8B5E90F}"/>
              </a:ext>
            </a:extLst>
          </p:cNvPr>
          <p:cNvSpPr txBox="1"/>
          <p:nvPr userDrawn="1"/>
        </p:nvSpPr>
        <p:spPr>
          <a:xfrm>
            <a:off x="10518894" y="1966711"/>
            <a:ext cx="121625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</a:rPr>
              <a:t>3169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56DDC-638A-6F7A-414E-7C39CAD1E8B9}"/>
              </a:ext>
            </a:extLst>
          </p:cNvPr>
          <p:cNvSpPr txBox="1"/>
          <p:nvPr userDrawn="1"/>
        </p:nvSpPr>
        <p:spPr>
          <a:xfrm>
            <a:off x="9739571" y="4976662"/>
            <a:ext cx="121625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</a:rPr>
              <a:t>517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FF5554-EF7B-3702-2727-01234C77A1C7}"/>
              </a:ext>
            </a:extLst>
          </p:cNvPr>
          <p:cNvSpPr txBox="1"/>
          <p:nvPr userDrawn="1"/>
        </p:nvSpPr>
        <p:spPr>
          <a:xfrm>
            <a:off x="6869516" y="1660392"/>
            <a:ext cx="3361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Mammalian Biologics Expert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35061-6C90-3402-768B-B7E55AA5E499}"/>
              </a:ext>
            </a:extLst>
          </p:cNvPr>
          <p:cNvSpPr txBox="1"/>
          <p:nvPr userDrawn="1"/>
        </p:nvSpPr>
        <p:spPr>
          <a:xfrm>
            <a:off x="6989523" y="2043554"/>
            <a:ext cx="32410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Our deep understanding enabled to produce 3169 functional proteins in 2022.</a:t>
            </a:r>
            <a:endParaRPr lang="et-EE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3AB11-4BED-FA7D-9B0A-5663648BE09E}"/>
              </a:ext>
            </a:extLst>
          </p:cNvPr>
          <p:cNvSpPr txBox="1"/>
          <p:nvPr userDrawn="1"/>
        </p:nvSpPr>
        <p:spPr>
          <a:xfrm>
            <a:off x="7154604" y="3179497"/>
            <a:ext cx="30759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Innovators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408AAB-8154-7881-2F9E-FD0C9FD6C9B5}"/>
              </a:ext>
            </a:extLst>
          </p:cNvPr>
          <p:cNvSpPr txBox="1"/>
          <p:nvPr userDrawn="1"/>
        </p:nvSpPr>
        <p:spPr>
          <a:xfrm>
            <a:off x="7154604" y="3562659"/>
            <a:ext cx="3075947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7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 innovative technology platforms to ensure an exceptional service.</a:t>
            </a:r>
            <a:endParaRPr lang="et-EE" sz="17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C45E01-17E2-A1D7-2A20-0DA86B282531}"/>
              </a:ext>
            </a:extLst>
          </p:cNvPr>
          <p:cNvSpPr txBox="1"/>
          <p:nvPr userDrawn="1"/>
        </p:nvSpPr>
        <p:spPr>
          <a:xfrm>
            <a:off x="6697707" y="4739072"/>
            <a:ext cx="30759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t-EE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Global Client Base</a:t>
            </a:r>
            <a:endParaRPr lang="et-EE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E8569-E7F8-E398-7872-A533CEAF1ADA}"/>
              </a:ext>
            </a:extLst>
          </p:cNvPr>
          <p:cNvSpPr txBox="1"/>
          <p:nvPr userDrawn="1"/>
        </p:nvSpPr>
        <p:spPr>
          <a:xfrm>
            <a:off x="6697707" y="5122234"/>
            <a:ext cx="307594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7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 2022, we delivered 517 successful projects.</a:t>
            </a:r>
            <a:endParaRPr lang="et-EE" sz="17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E4DFF0-69E7-328A-37EF-BBC835375960}"/>
              </a:ext>
            </a:extLst>
          </p:cNvPr>
          <p:cNvSpPr txBox="1"/>
          <p:nvPr userDrawn="1"/>
        </p:nvSpPr>
        <p:spPr>
          <a:xfrm>
            <a:off x="4684797" y="3217730"/>
            <a:ext cx="2859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CRDMO</a:t>
            </a:r>
            <a:endParaRPr lang="et-EE" sz="4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2C3F8-3DE6-C0E1-C8FB-2E5D14056B1C}"/>
              </a:ext>
            </a:extLst>
          </p:cNvPr>
          <p:cNvSpPr txBox="1"/>
          <p:nvPr userDrawn="1"/>
        </p:nvSpPr>
        <p:spPr>
          <a:xfrm>
            <a:off x="4684797" y="3868148"/>
            <a:ext cx="2859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One-Stop-Shop</a:t>
            </a:r>
            <a:endParaRPr lang="et-E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1A418C01-C353-A001-F684-06858D8B5A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2766" y="2398733"/>
            <a:ext cx="2726468" cy="2766329"/>
          </a:xfrm>
          <a:prstGeom prst="rect">
            <a:avLst/>
          </a:prstGeom>
        </p:spPr>
      </p:pic>
      <p:pic>
        <p:nvPicPr>
          <p:cNvPr id="31" name="Graphic 30" descr="Person with idea with solid fill">
            <a:extLst>
              <a:ext uri="{FF2B5EF4-FFF2-40B4-BE49-F238E27FC236}">
                <a16:creationId xmlns:a16="http://schemas.microsoft.com/office/drawing/2014/main" id="{66FD1992-7B00-E9C9-FB20-DFA7AE42032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3743" y="3361041"/>
            <a:ext cx="914400" cy="914400"/>
          </a:xfrm>
          <a:prstGeom prst="rect">
            <a:avLst/>
          </a:prstGeom>
        </p:spPr>
      </p:pic>
      <p:pic>
        <p:nvPicPr>
          <p:cNvPr id="32" name="Graphic 31" descr="Modern architecture with solid fill">
            <a:extLst>
              <a:ext uri="{FF2B5EF4-FFF2-40B4-BE49-F238E27FC236}">
                <a16:creationId xmlns:a16="http://schemas.microsoft.com/office/drawing/2014/main" id="{8E73E6F3-2D08-CE84-D414-43B59A60F54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550" y="33610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52243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icosagen-in-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picture containing night sky">
            <a:extLst>
              <a:ext uri="{FF2B5EF4-FFF2-40B4-BE49-F238E27FC236}">
                <a16:creationId xmlns:a16="http://schemas.microsoft.com/office/drawing/2014/main" id="{691A0223-E372-136F-F962-756B72F92C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A4C85B9E-2709-AC89-CF90-B6FDC912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82" y="1473668"/>
            <a:ext cx="10698018" cy="6463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F9B6D76E-A6D4-2CBC-6A23-5203225A81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6959" y="3260725"/>
            <a:ext cx="2874962" cy="12112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7C85A2A4-AF6B-E622-7A2A-3EF7898EB3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56959" y="4584784"/>
            <a:ext cx="2874962" cy="407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ECB097E4-1DB3-AA14-5A47-685A66A75F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56959" y="2784475"/>
            <a:ext cx="2874962" cy="407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C5C3B4FE-FECC-9319-0C9B-DC20121CC0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58519" y="3260725"/>
            <a:ext cx="2874962" cy="12112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5B2E4111-4B2D-8A61-135C-D0CAFD609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58519" y="4584784"/>
            <a:ext cx="2874962" cy="407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01EE6F3F-C210-5561-FEAE-21AD1C38A9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58519" y="2784475"/>
            <a:ext cx="2874962" cy="407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69722EC0-7D27-8650-5C74-DE5608B7E4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0079" y="3260725"/>
            <a:ext cx="2874962" cy="12112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748ABC1-11D1-05A5-64E1-79F635206A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0079" y="4584784"/>
            <a:ext cx="2874962" cy="407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B7D915A5-9F77-303B-4CC5-631C402499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60079" y="2784475"/>
            <a:ext cx="2874962" cy="407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AB97635-0735-A689-B5D0-107F66BE95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3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re-technologies_about_icos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picture containing night sky">
            <a:extLst>
              <a:ext uri="{FF2B5EF4-FFF2-40B4-BE49-F238E27FC236}">
                <a16:creationId xmlns:a16="http://schemas.microsoft.com/office/drawing/2014/main" id="{691A0223-E372-136F-F962-756B72F92C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E69B36F-92AF-20F6-7828-45D225AD2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012" y="4115911"/>
            <a:ext cx="1476375" cy="1704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13CA67-6966-6DA4-3FC5-3D2E503B212B}"/>
              </a:ext>
            </a:extLst>
          </p:cNvPr>
          <p:cNvSpPr txBox="1"/>
          <p:nvPr/>
        </p:nvSpPr>
        <p:spPr>
          <a:xfrm>
            <a:off x="7831681" y="2406877"/>
            <a:ext cx="203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</a:rPr>
              <a:t>Antibody Discovery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D1D30F-71C2-1C1E-7214-2809959C9FB7}"/>
              </a:ext>
            </a:extLst>
          </p:cNvPr>
          <p:cNvGrpSpPr/>
          <p:nvPr/>
        </p:nvGrpSpPr>
        <p:grpSpPr>
          <a:xfrm>
            <a:off x="2321235" y="1461228"/>
            <a:ext cx="6151620" cy="3896158"/>
            <a:chOff x="1952599" y="1461228"/>
            <a:chExt cx="6151620" cy="3896158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5548140-C7EA-929F-5A99-11F2FBAC6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52165" y="1461228"/>
              <a:ext cx="1476375" cy="170497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1DB3E8F-91C9-C1E2-7A25-23AC82563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27844" y="2804449"/>
              <a:ext cx="1476375" cy="1704975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43973E0-0BF1-DF42-78D9-3B5509289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53867" y="2793200"/>
              <a:ext cx="1476375" cy="1704975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384D149-4604-358C-B49A-0985F23B7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90395" y="2784432"/>
              <a:ext cx="1476375" cy="170497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A7F3F9-5DF9-39D0-853F-6AE7EB263359}"/>
                </a:ext>
              </a:extLst>
            </p:cNvPr>
            <p:cNvSpPr txBox="1"/>
            <p:nvPr/>
          </p:nvSpPr>
          <p:spPr>
            <a:xfrm>
              <a:off x="1952599" y="4509934"/>
              <a:ext cx="1987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alibri" panose="020F0502020204030204" pitchFamily="34" charset="0"/>
                </a:rPr>
                <a:t>Protein Production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C0B9C5-2FDD-1033-91BA-5B1CA619307B}"/>
                </a:ext>
              </a:extLst>
            </p:cNvPr>
            <p:cNvSpPr txBox="1"/>
            <p:nvPr/>
          </p:nvSpPr>
          <p:spPr>
            <a:xfrm>
              <a:off x="5090395" y="3265675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2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Core</a:t>
              </a:r>
            </a:p>
            <a:p>
              <a:pPr algn="ctr"/>
              <a:r>
                <a:rPr lang="et-EE" sz="1600" b="1" dirty="0">
                  <a:solidFill>
                    <a:schemeClr val="tx2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technologies</a:t>
              </a:r>
              <a:endParaRPr lang="en-US" sz="1600" b="1" dirty="0">
                <a:solidFill>
                  <a:schemeClr val="tx2"/>
                </a:solidFill>
                <a:latin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2A19A4-C3D6-5882-E52A-8D244B31D2F4}"/>
                </a:ext>
              </a:extLst>
            </p:cNvPr>
            <p:cNvSpPr txBox="1"/>
            <p:nvPr/>
          </p:nvSpPr>
          <p:spPr>
            <a:xfrm>
              <a:off x="5850991" y="2144438"/>
              <a:ext cx="14763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HybriFree</a:t>
              </a:r>
              <a:endParaRPr lang="en-US" sz="1600" b="1" dirty="0">
                <a:solidFill>
                  <a:schemeClr val="tx2"/>
                </a:solidFill>
                <a:latin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B9AA0A-91E7-E06E-3992-189F052ACC44}"/>
                </a:ext>
              </a:extLst>
            </p:cNvPr>
            <p:cNvSpPr txBox="1"/>
            <p:nvPr/>
          </p:nvSpPr>
          <p:spPr>
            <a:xfrm>
              <a:off x="6627844" y="3317319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Phage</a:t>
              </a:r>
            </a:p>
            <a:p>
              <a:pPr algn="ctr"/>
              <a:r>
                <a:rPr lang="et-EE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Display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863818-BA60-22A8-E420-345D7806C8A3}"/>
                </a:ext>
              </a:extLst>
            </p:cNvPr>
            <p:cNvSpPr txBox="1"/>
            <p:nvPr/>
          </p:nvSpPr>
          <p:spPr>
            <a:xfrm>
              <a:off x="4324375" y="4526389"/>
              <a:ext cx="14763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IcoCell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Cell Line 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Development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F67274-C365-6AA9-A607-4B8BE85A59A9}"/>
                </a:ext>
              </a:extLst>
            </p:cNvPr>
            <p:cNvSpPr txBox="1"/>
            <p:nvPr/>
          </p:nvSpPr>
          <p:spPr>
            <a:xfrm>
              <a:off x="3555798" y="3225485"/>
              <a:ext cx="14763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QMCF</a:t>
              </a:r>
            </a:p>
            <a:p>
              <a:pPr algn="ctr"/>
              <a:r>
                <a:rPr lang="et-EE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Protein 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cs typeface="Helvetica" panose="020B0604020202020204" pitchFamily="34" charset="0"/>
              </a:endParaRPr>
            </a:p>
            <a:p>
              <a:pPr algn="ctr"/>
              <a:r>
                <a:rPr lang="et-EE" sz="1600" dirty="0">
                  <a:solidFill>
                    <a:schemeClr val="bg1"/>
                  </a:solidFill>
                  <a:latin typeface="Calibri" panose="020F0502020204030204" pitchFamily="34" charset="0"/>
                  <a:cs typeface="Helvetica" panose="020B0604020202020204" pitchFamily="34" charset="0"/>
                </a:rPr>
                <a:t>Production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cs typeface="Helvetica" panose="020B0604020202020204" pitchFamily="34" charset="0"/>
              </a:endParaRP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DBC6FAA7-DA49-0F48-B9F2-24017754D4B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02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core-competences+services_about_icos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picture containing night sky">
            <a:extLst>
              <a:ext uri="{FF2B5EF4-FFF2-40B4-BE49-F238E27FC236}">
                <a16:creationId xmlns:a16="http://schemas.microsoft.com/office/drawing/2014/main" id="{05E98CEC-CCAD-6C04-B617-0491020B67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A71E5D2-9A3B-93AE-E002-32956744A820}"/>
              </a:ext>
            </a:extLst>
          </p:cNvPr>
          <p:cNvGrpSpPr/>
          <p:nvPr userDrawn="1"/>
        </p:nvGrpSpPr>
        <p:grpSpPr>
          <a:xfrm>
            <a:off x="868749" y="1055510"/>
            <a:ext cx="10454502" cy="5692813"/>
            <a:chOff x="745045" y="1093610"/>
            <a:chExt cx="10454502" cy="569281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35EE98-F0CC-4053-84DD-3D08CABEF515}"/>
                </a:ext>
              </a:extLst>
            </p:cNvPr>
            <p:cNvGrpSpPr/>
            <p:nvPr/>
          </p:nvGrpSpPr>
          <p:grpSpPr>
            <a:xfrm>
              <a:off x="3056897" y="2416271"/>
              <a:ext cx="1485617" cy="1704975"/>
              <a:chOff x="3056897" y="2416271"/>
              <a:chExt cx="1485617" cy="1704975"/>
            </a:xfrm>
          </p:grpSpPr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88BA3EE3-0235-C8B1-47B1-45A048E611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066139" y="2416271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192F9F-92FB-DA58-CEFC-AEFBE7B37F0E}"/>
                  </a:ext>
                </a:extLst>
              </p:cNvPr>
              <p:cNvSpPr txBox="1"/>
              <p:nvPr/>
            </p:nvSpPr>
            <p:spPr>
              <a:xfrm>
                <a:off x="3056897" y="2947650"/>
                <a:ext cx="1485617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Pre-clinical</a:t>
                </a:r>
              </a:p>
              <a:p>
                <a:pPr algn="ctr"/>
                <a:r>
                  <a:rPr lang="en-US" sz="1600" b="1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competencies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81F3B0A-D765-7589-A095-204A82B6D419}"/>
                </a:ext>
              </a:extLst>
            </p:cNvPr>
            <p:cNvGrpSpPr/>
            <p:nvPr/>
          </p:nvGrpSpPr>
          <p:grpSpPr>
            <a:xfrm>
              <a:off x="6623328" y="2151231"/>
              <a:ext cx="4576219" cy="3051920"/>
              <a:chOff x="6470928" y="2151231"/>
              <a:chExt cx="4576219" cy="305192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E7C57F3-2410-1F9E-89B9-E80F66767FC0}"/>
                  </a:ext>
                </a:extLst>
              </p:cNvPr>
              <p:cNvGrpSpPr/>
              <p:nvPr/>
            </p:nvGrpSpPr>
            <p:grpSpPr>
              <a:xfrm>
                <a:off x="7239254" y="2151231"/>
                <a:ext cx="3039567" cy="1704975"/>
                <a:chOff x="7266255" y="2170281"/>
                <a:chExt cx="3039567" cy="1704975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D72A4E10-F5FB-8F07-0BC8-0B76800DCEF9}"/>
                    </a:ext>
                  </a:extLst>
                </p:cNvPr>
                <p:cNvGrpSpPr/>
                <p:nvPr/>
              </p:nvGrpSpPr>
              <p:grpSpPr>
                <a:xfrm>
                  <a:off x="7266255" y="2170281"/>
                  <a:ext cx="1477398" cy="1704975"/>
                  <a:chOff x="7266255" y="2170281"/>
                  <a:chExt cx="1477398" cy="1704975"/>
                </a:xfrm>
              </p:grpSpPr>
              <p:pic>
                <p:nvPicPr>
                  <p:cNvPr id="48" name="Graphic 47">
                    <a:extLst>
                      <a:ext uri="{FF2B5EF4-FFF2-40B4-BE49-F238E27FC236}">
                        <a16:creationId xmlns:a16="http://schemas.microsoft.com/office/drawing/2014/main" id="{02F2913C-01E5-F616-ED8F-EB0233678C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67278" y="2170281"/>
                    <a:ext cx="1476375" cy="1704975"/>
                  </a:xfrm>
                  <a:prstGeom prst="rect">
                    <a:avLst/>
                  </a:prstGeom>
                </p:spPr>
              </p:pic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CA3C0D15-C89D-789B-72CE-7C4AE27669F0}"/>
                      </a:ext>
                    </a:extLst>
                  </p:cNvPr>
                  <p:cNvSpPr txBox="1"/>
                  <p:nvPr/>
                </p:nvSpPr>
                <p:spPr>
                  <a:xfrm>
                    <a:off x="7266255" y="2718593"/>
                    <a:ext cx="147637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Process</a:t>
                    </a:r>
                  </a:p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development</a:t>
                    </a: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7323730-FD9A-D583-86AB-EE9646E0DB56}"/>
                    </a:ext>
                  </a:extLst>
                </p:cNvPr>
                <p:cNvGrpSpPr/>
                <p:nvPr/>
              </p:nvGrpSpPr>
              <p:grpSpPr>
                <a:xfrm>
                  <a:off x="8828423" y="2170281"/>
                  <a:ext cx="1477399" cy="1704975"/>
                  <a:chOff x="8828423" y="2170281"/>
                  <a:chExt cx="1477399" cy="1704975"/>
                </a:xfrm>
              </p:grpSpPr>
              <p:pic>
                <p:nvPicPr>
                  <p:cNvPr id="46" name="Graphic 45">
                    <a:extLst>
                      <a:ext uri="{FF2B5EF4-FFF2-40B4-BE49-F238E27FC236}">
                        <a16:creationId xmlns:a16="http://schemas.microsoft.com/office/drawing/2014/main" id="{B9205D71-5382-D3CD-3233-0016927A80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829447" y="2170281"/>
                    <a:ext cx="1476375" cy="1704975"/>
                  </a:xfrm>
                  <a:prstGeom prst="rect">
                    <a:avLst/>
                  </a:prstGeom>
                </p:spPr>
              </p:pic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E4881AD4-D483-F50A-CE4A-447ED446AC44}"/>
                      </a:ext>
                    </a:extLst>
                  </p:cNvPr>
                  <p:cNvSpPr txBox="1"/>
                  <p:nvPr/>
                </p:nvSpPr>
                <p:spPr>
                  <a:xfrm>
                    <a:off x="8828423" y="2718593"/>
                    <a:ext cx="1476375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MCB</a:t>
                    </a:r>
                  </a:p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Establishment</a:t>
                    </a:r>
                  </a:p>
                </p:txBody>
              </p:sp>
            </p:grp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4CCEB82-9E03-D727-993E-B7F9ACAB3D9D}"/>
                  </a:ext>
                </a:extLst>
              </p:cNvPr>
              <p:cNvGrpSpPr/>
              <p:nvPr/>
            </p:nvGrpSpPr>
            <p:grpSpPr>
              <a:xfrm>
                <a:off x="6470928" y="3498176"/>
                <a:ext cx="4576219" cy="1704975"/>
                <a:chOff x="6470928" y="3498176"/>
                <a:chExt cx="4576219" cy="1704975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47929E6C-652F-DBE1-9E9C-24C933DF1782}"/>
                    </a:ext>
                  </a:extLst>
                </p:cNvPr>
                <p:cNvGrpSpPr/>
                <p:nvPr/>
              </p:nvGrpSpPr>
              <p:grpSpPr>
                <a:xfrm>
                  <a:off x="6470928" y="3498176"/>
                  <a:ext cx="1482245" cy="1704975"/>
                  <a:chOff x="6499503" y="3498176"/>
                  <a:chExt cx="1482245" cy="1704975"/>
                </a:xfrm>
              </p:grpSpPr>
              <p:pic>
                <p:nvPicPr>
                  <p:cNvPr id="42" name="Graphic 41">
                    <a:extLst>
                      <a:ext uri="{FF2B5EF4-FFF2-40B4-BE49-F238E27FC236}">
                        <a16:creationId xmlns:a16="http://schemas.microsoft.com/office/drawing/2014/main" id="{B67D2FE7-0BA3-ED9E-36F1-97E5BD04BA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505373" y="3498176"/>
                    <a:ext cx="1476375" cy="1704975"/>
                  </a:xfrm>
                  <a:prstGeom prst="rect">
                    <a:avLst/>
                  </a:prstGeom>
                </p:spPr>
              </p:pic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F886998E-8635-7767-4067-2CD2514919BA}"/>
                      </a:ext>
                    </a:extLst>
                  </p:cNvPr>
                  <p:cNvSpPr txBox="1"/>
                  <p:nvPr/>
                </p:nvSpPr>
                <p:spPr>
                  <a:xfrm>
                    <a:off x="6499503" y="4010338"/>
                    <a:ext cx="146457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Cell line</a:t>
                    </a:r>
                  </a:p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development</a:t>
                    </a:r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418E0C8B-0544-2151-EC2D-9B0C30A259B3}"/>
                    </a:ext>
                  </a:extLst>
                </p:cNvPr>
                <p:cNvGrpSpPr/>
                <p:nvPr/>
              </p:nvGrpSpPr>
              <p:grpSpPr>
                <a:xfrm>
                  <a:off x="8011566" y="3498176"/>
                  <a:ext cx="1494046" cy="1704975"/>
                  <a:chOff x="8011566" y="3498176"/>
                  <a:chExt cx="1494046" cy="1704975"/>
                </a:xfrm>
              </p:grpSpPr>
              <p:pic>
                <p:nvPicPr>
                  <p:cNvPr id="40" name="Graphic 39">
                    <a:extLst>
                      <a:ext uri="{FF2B5EF4-FFF2-40B4-BE49-F238E27FC236}">
                        <a16:creationId xmlns:a16="http://schemas.microsoft.com/office/drawing/2014/main" id="{13A2EBE0-E699-E566-1D6A-16A2934A65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029237" y="3498176"/>
                    <a:ext cx="1476375" cy="1704975"/>
                  </a:xfrm>
                  <a:prstGeom prst="rect">
                    <a:avLst/>
                  </a:prstGeom>
                </p:spPr>
              </p:pic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5CFF1812-F7BD-9946-9F50-BD5722B1BD2E}"/>
                      </a:ext>
                    </a:extLst>
                  </p:cNvPr>
                  <p:cNvSpPr txBox="1"/>
                  <p:nvPr/>
                </p:nvSpPr>
                <p:spPr>
                  <a:xfrm>
                    <a:off x="8011566" y="4010338"/>
                    <a:ext cx="1494046" cy="58477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solidFill>
                          <a:schemeClr val="accent3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Clinical stage</a:t>
                    </a:r>
                  </a:p>
                  <a:p>
                    <a:pPr algn="ctr"/>
                    <a:r>
                      <a:rPr lang="en-US" sz="1600" b="1" dirty="0">
                        <a:solidFill>
                          <a:schemeClr val="accent3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competencies</a:t>
                    </a:r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F04C099-8F88-B0CE-AC9F-9C69D8A3EEC3}"/>
                    </a:ext>
                  </a:extLst>
                </p:cNvPr>
                <p:cNvGrpSpPr/>
                <p:nvPr/>
              </p:nvGrpSpPr>
              <p:grpSpPr>
                <a:xfrm>
                  <a:off x="9570772" y="3498176"/>
                  <a:ext cx="1476375" cy="1704975"/>
                  <a:chOff x="9570772" y="3498176"/>
                  <a:chExt cx="1476375" cy="1704975"/>
                </a:xfrm>
              </p:grpSpPr>
              <p:pic>
                <p:nvPicPr>
                  <p:cNvPr id="38" name="Graphic 37">
                    <a:extLst>
                      <a:ext uri="{FF2B5EF4-FFF2-40B4-BE49-F238E27FC236}">
                        <a16:creationId xmlns:a16="http://schemas.microsoft.com/office/drawing/2014/main" id="{0A43F923-383B-9837-69DF-10BA2D6987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570772" y="3498176"/>
                    <a:ext cx="1476375" cy="1704975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C7BCEF4B-228D-2B2E-890A-8D7C2B4D30FB}"/>
                      </a:ext>
                    </a:extLst>
                  </p:cNvPr>
                  <p:cNvSpPr txBox="1"/>
                  <p:nvPr/>
                </p:nvSpPr>
                <p:spPr>
                  <a:xfrm>
                    <a:off x="9576643" y="4010338"/>
                    <a:ext cx="147050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cGMP</a:t>
                    </a:r>
                  </a:p>
                  <a:p>
                    <a:pPr algn="ctr"/>
                    <a:r>
                      <a: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Manufacturing</a:t>
                    </a:r>
                  </a:p>
                </p:txBody>
              </p:sp>
            </p:grp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37D6FBD-A4E9-378E-2FB3-E962C02590A9}"/>
                </a:ext>
              </a:extLst>
            </p:cNvPr>
            <p:cNvGrpSpPr/>
            <p:nvPr/>
          </p:nvGrpSpPr>
          <p:grpSpPr>
            <a:xfrm>
              <a:off x="3832513" y="1093610"/>
              <a:ext cx="1476376" cy="1704975"/>
              <a:chOff x="8868027" y="213635"/>
              <a:chExt cx="1476376" cy="1704975"/>
            </a:xfrm>
          </p:grpSpPr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5230D364-885D-E7C4-818B-25ED7B235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868028" y="213635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2C8D1E-0001-C900-1158-86AFE98242C4}"/>
                  </a:ext>
                </a:extLst>
              </p:cNvPr>
              <p:cNvSpPr txBox="1"/>
              <p:nvPr/>
            </p:nvSpPr>
            <p:spPr>
              <a:xfrm>
                <a:off x="8868027" y="732916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Protein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expression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8324B18-10C1-3222-92EE-8CF9A29575AC}"/>
                </a:ext>
              </a:extLst>
            </p:cNvPr>
            <p:cNvGrpSpPr/>
            <p:nvPr/>
          </p:nvGrpSpPr>
          <p:grpSpPr>
            <a:xfrm>
              <a:off x="4589937" y="2429354"/>
              <a:ext cx="1476376" cy="1704975"/>
              <a:chOff x="8868027" y="213635"/>
              <a:chExt cx="1476376" cy="1704975"/>
            </a:xfrm>
          </p:grpSpPr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233575FC-66F9-C17F-0D09-F51320448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868028" y="213635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65FCB9-76E8-F9AD-3344-146D4935F84D}"/>
                  </a:ext>
                </a:extLst>
              </p:cNvPr>
              <p:cNvSpPr txBox="1"/>
              <p:nvPr/>
            </p:nvSpPr>
            <p:spPr>
              <a:xfrm>
                <a:off x="8868027" y="732916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Protein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purification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A235EA4-0400-9691-7574-BA99EC6EADB2}"/>
                </a:ext>
              </a:extLst>
            </p:cNvPr>
            <p:cNvGrpSpPr/>
            <p:nvPr/>
          </p:nvGrpSpPr>
          <p:grpSpPr>
            <a:xfrm>
              <a:off x="3832513" y="3747467"/>
              <a:ext cx="1476376" cy="1704975"/>
              <a:chOff x="8868027" y="213635"/>
              <a:chExt cx="1476376" cy="1704975"/>
            </a:xfrm>
          </p:grpSpPr>
          <p:pic>
            <p:nvPicPr>
              <p:cNvPr id="27" name="Graphic 26">
                <a:extLst>
                  <a:ext uri="{FF2B5EF4-FFF2-40B4-BE49-F238E27FC236}">
                    <a16:creationId xmlns:a16="http://schemas.microsoft.com/office/drawing/2014/main" id="{C2D352D4-2226-6D43-83C6-272642DCD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868028" y="213635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4CBA65-3075-27B7-14E5-9ABFAC05B934}"/>
                  </a:ext>
                </a:extLst>
              </p:cNvPr>
              <p:cNvSpPr txBox="1"/>
              <p:nvPr/>
            </p:nvSpPr>
            <p:spPr>
              <a:xfrm>
                <a:off x="8868027" y="732916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Antibody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discovery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F57B074-BEC3-E26A-02B5-D5BBB2A31EA7}"/>
                </a:ext>
              </a:extLst>
            </p:cNvPr>
            <p:cNvGrpSpPr/>
            <p:nvPr/>
          </p:nvGrpSpPr>
          <p:grpSpPr>
            <a:xfrm>
              <a:off x="3056897" y="5081448"/>
              <a:ext cx="1476376" cy="1704975"/>
              <a:chOff x="8868027" y="213635"/>
              <a:chExt cx="1476376" cy="1704975"/>
            </a:xfrm>
          </p:grpSpPr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182FF468-7463-6D09-7710-3B15B48A76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868028" y="213635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71FACD7-DECD-0E8A-8315-3B1612F669E0}"/>
                  </a:ext>
                </a:extLst>
              </p:cNvPr>
              <p:cNvSpPr txBox="1"/>
              <p:nvPr/>
            </p:nvSpPr>
            <p:spPr>
              <a:xfrm>
                <a:off x="8868027" y="732916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Cell-based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Activity assays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D132BC-0C09-41E1-71B0-7DF08F87D80E}"/>
                </a:ext>
              </a:extLst>
            </p:cNvPr>
            <p:cNvGrpSpPr/>
            <p:nvPr/>
          </p:nvGrpSpPr>
          <p:grpSpPr>
            <a:xfrm>
              <a:off x="2272134" y="3747467"/>
              <a:ext cx="1476376" cy="1704975"/>
              <a:chOff x="8868027" y="213635"/>
              <a:chExt cx="1476376" cy="1704975"/>
            </a:xfrm>
          </p:grpSpPr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2390C33C-9A6D-964E-71B3-0F2CA0F29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868028" y="213635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F16378-2DA0-4550-E7A0-230E61B33066}"/>
                  </a:ext>
                </a:extLst>
              </p:cNvPr>
              <p:cNvSpPr txBox="1"/>
              <p:nvPr/>
            </p:nvSpPr>
            <p:spPr>
              <a:xfrm>
                <a:off x="8868027" y="732916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Protein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Analytics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338B505-9282-6DBB-8A2D-0B8850D91EB9}"/>
                </a:ext>
              </a:extLst>
            </p:cNvPr>
            <p:cNvGrpSpPr/>
            <p:nvPr/>
          </p:nvGrpSpPr>
          <p:grpSpPr>
            <a:xfrm>
              <a:off x="745045" y="3747467"/>
              <a:ext cx="1504486" cy="1704975"/>
              <a:chOff x="8839916" y="213635"/>
              <a:chExt cx="1504486" cy="1704975"/>
            </a:xfrm>
          </p:grpSpPr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C58F37F1-9CBC-5A3C-0E87-D2530BAA9E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839916" y="213635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4ADBBF-2641-03D3-F0DF-BFB9002E6AB8}"/>
                  </a:ext>
                </a:extLst>
              </p:cNvPr>
              <p:cNvSpPr txBox="1"/>
              <p:nvPr/>
            </p:nvSpPr>
            <p:spPr>
              <a:xfrm>
                <a:off x="8868027" y="732916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Bio-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informatics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3E2283-1CDE-8384-DF56-FB6ECFA17791}"/>
                </a:ext>
              </a:extLst>
            </p:cNvPr>
            <p:cNvGrpSpPr/>
            <p:nvPr/>
          </p:nvGrpSpPr>
          <p:grpSpPr>
            <a:xfrm>
              <a:off x="1523552" y="2421764"/>
              <a:ext cx="1476376" cy="1704975"/>
              <a:chOff x="1523552" y="2421764"/>
              <a:chExt cx="1476376" cy="1704975"/>
            </a:xfrm>
          </p:grpSpPr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D525CD66-4C6C-0D3A-9D2D-FBC2510D17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23553" y="2421764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E15A2D-DAA6-8A60-0060-6CD12FBC6187}"/>
                  </a:ext>
                </a:extLst>
              </p:cNvPr>
              <p:cNvSpPr txBox="1"/>
              <p:nvPr/>
            </p:nvSpPr>
            <p:spPr>
              <a:xfrm>
                <a:off x="1523552" y="2941045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Protein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engineering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E96C16B-FB14-D2B2-E015-FF49B4BCF8BB}"/>
                </a:ext>
              </a:extLst>
            </p:cNvPr>
            <p:cNvGrpSpPr/>
            <p:nvPr/>
          </p:nvGrpSpPr>
          <p:grpSpPr>
            <a:xfrm>
              <a:off x="2272134" y="1096399"/>
              <a:ext cx="1476376" cy="1704975"/>
              <a:chOff x="1523552" y="2421764"/>
              <a:chExt cx="1476376" cy="1704975"/>
            </a:xfrm>
          </p:grpSpPr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C2300A22-7884-9651-90F2-83866C09DD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23553" y="2421764"/>
                <a:ext cx="1476375" cy="1704975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4EEB36-7174-B47D-3B61-626B07F41BC2}"/>
                  </a:ext>
                </a:extLst>
              </p:cNvPr>
              <p:cNvSpPr txBox="1"/>
              <p:nvPr/>
            </p:nvSpPr>
            <p:spPr>
              <a:xfrm>
                <a:off x="1523552" y="2941045"/>
                <a:ext cx="14763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DNA</a:t>
                </a:r>
                <a:b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cloning</a:t>
                </a:r>
              </a:p>
            </p:txBody>
          </p:sp>
        </p:grpSp>
      </p:grpSp>
      <p:pic>
        <p:nvPicPr>
          <p:cNvPr id="54" name="Graphic 53">
            <a:extLst>
              <a:ext uri="{FF2B5EF4-FFF2-40B4-BE49-F238E27FC236}">
                <a16:creationId xmlns:a16="http://schemas.microsoft.com/office/drawing/2014/main" id="{0ABE2FA4-7E77-7B08-F580-19629FA9AD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77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two-column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two-column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contacts_whi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0D77C19-2868-7F54-5004-BA915B6D98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5721" y="5132728"/>
            <a:ext cx="239617" cy="273848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0293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40018F4-2BC3-593A-8754-4FDD1C16B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6757" y="5132728"/>
            <a:ext cx="239617" cy="273848"/>
          </a:xfrm>
          <a:prstGeom prst="rect">
            <a:avLst/>
          </a:prstGeom>
        </p:spPr>
      </p:pic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021329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E6DFE05-08B2-88D7-F1FC-226AA328BC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37750" y="5132728"/>
            <a:ext cx="239617" cy="273848"/>
          </a:xfrm>
          <a:prstGeom prst="rect">
            <a:avLst/>
          </a:prstGeom>
        </p:spPr>
      </p:pic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982322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3EAC4BE-D0E2-63B3-39D1-1FF2A34390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48786" y="5132728"/>
            <a:ext cx="239617" cy="273848"/>
          </a:xfrm>
          <a:prstGeom prst="rect">
            <a:avLst/>
          </a:prstGeom>
        </p:spPr>
      </p:pic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0093358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contacts_whit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6A79CDC-B629-5BC1-3954-7F9811D4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243514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40018F4-2BC3-593A-8754-4FDD1C16B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5141" y="5132728"/>
            <a:ext cx="239617" cy="273848"/>
          </a:xfrm>
          <a:prstGeom prst="rect">
            <a:avLst/>
          </a:prstGeom>
        </p:spPr>
      </p:pic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679713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31834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5396134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E6DFE05-08B2-88D7-F1FC-226AA328BC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6134" y="5132728"/>
            <a:ext cx="239617" cy="273848"/>
          </a:xfrm>
          <a:prstGeom prst="rect">
            <a:avLst/>
          </a:prstGeom>
        </p:spPr>
      </p:pic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64070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279334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850717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3EAC4BE-D0E2-63B3-39D1-1FF2A34390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7170" y="5132728"/>
            <a:ext cx="239617" cy="273848"/>
          </a:xfrm>
          <a:prstGeom prst="rect">
            <a:avLst/>
          </a:prstGeom>
        </p:spPr>
      </p:pic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751742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037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0911C1D-4C0C-6C0D-6836-90182BFCBC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41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contacts_whi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40018F4-2BC3-593A-8754-4FDD1C16B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6757" y="5132728"/>
            <a:ext cx="239617" cy="273848"/>
          </a:xfrm>
          <a:prstGeom prst="rect">
            <a:avLst/>
          </a:prstGeom>
        </p:spPr>
      </p:pic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021329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E6DFE05-08B2-88D7-F1FC-226AA328BC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37750" y="5132728"/>
            <a:ext cx="239617" cy="273848"/>
          </a:xfrm>
          <a:prstGeom prst="rect">
            <a:avLst/>
          </a:prstGeom>
        </p:spPr>
      </p:pic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982322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60012C-FD74-8B2D-7CDB-F7AB424431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Title 16">
            <a:extLst>
              <a:ext uri="{FF2B5EF4-FFF2-40B4-BE49-F238E27FC236}">
                <a16:creationId xmlns:a16="http://schemas.microsoft.com/office/drawing/2014/main" id="{02C3D48E-E191-ECFC-07F8-B1897485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1776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contacts_whit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5396134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E6DFE05-08B2-88D7-F1FC-226AA328BC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6134" y="5132728"/>
            <a:ext cx="239617" cy="273848"/>
          </a:xfrm>
          <a:prstGeom prst="rect">
            <a:avLst/>
          </a:prstGeom>
        </p:spPr>
      </p:pic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64070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279334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5D6D766-C12F-9A4A-D4A7-54434BC2A8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Title 16">
            <a:extLst>
              <a:ext uri="{FF2B5EF4-FFF2-40B4-BE49-F238E27FC236}">
                <a16:creationId xmlns:a16="http://schemas.microsoft.com/office/drawing/2014/main" id="{E453111A-B233-48BD-985E-9088D57C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340285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contacts_red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1BC7C983-E049-FAF6-1568-DF2BB5610B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0D77C19-2868-7F54-5004-BA915B6D98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5721" y="5132728"/>
            <a:ext cx="239617" cy="273848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0293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40018F4-2BC3-593A-8754-4FDD1C16B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6757" y="5132728"/>
            <a:ext cx="239617" cy="273848"/>
          </a:xfrm>
          <a:prstGeom prst="rect">
            <a:avLst/>
          </a:prstGeom>
        </p:spPr>
      </p:pic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021329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E6DFE05-08B2-88D7-F1FC-226AA328BC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37750" y="5132728"/>
            <a:ext cx="239617" cy="273848"/>
          </a:xfrm>
          <a:prstGeom prst="rect">
            <a:avLst/>
          </a:prstGeom>
        </p:spPr>
      </p:pic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982322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t-EE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3EAC4BE-D0E2-63B3-39D1-1FF2A34390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48786" y="5132728"/>
            <a:ext cx="239617" cy="273848"/>
          </a:xfrm>
          <a:prstGeom prst="rect">
            <a:avLst/>
          </a:prstGeom>
        </p:spPr>
      </p:pic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0093358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9898487-0C4F-1D28-8DAF-A10C1CCF50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Title 16">
            <a:extLst>
              <a:ext uri="{FF2B5EF4-FFF2-40B4-BE49-F238E27FC236}">
                <a16:creationId xmlns:a16="http://schemas.microsoft.com/office/drawing/2014/main" id="{81BD16A0-6BB1-2298-8EC4-06A70C9E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8911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last-page_links_about_icos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D265E9C-4CB4-691C-438D-9645C0E074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EFF37880-4D19-B394-E3C3-9F41F337E21F}"/>
              </a:ext>
            </a:extLst>
          </p:cNvPr>
          <p:cNvSpPr txBox="1">
            <a:spLocks/>
          </p:cNvSpPr>
          <p:nvPr userDrawn="1"/>
        </p:nvSpPr>
        <p:spPr>
          <a:xfrm>
            <a:off x="831850" y="5411184"/>
            <a:ext cx="4651375" cy="89142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</a:rPr>
              <a:t>F</a:t>
            </a:r>
            <a:r>
              <a:rPr lang="et-EE" sz="2400" dirty="0">
                <a:solidFill>
                  <a:schemeClr val="accent1"/>
                </a:solidFill>
              </a:rPr>
              <a:t>ollow the links to read more 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t-EE" sz="2400" dirty="0">
                <a:solidFill>
                  <a:schemeClr val="accent1"/>
                </a:solidFill>
              </a:rPr>
              <a:t>on our website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26DF88-1402-6DE6-4F9A-38366C409836}"/>
              </a:ext>
            </a:extLst>
          </p:cNvPr>
          <p:cNvGrpSpPr/>
          <p:nvPr userDrawn="1"/>
        </p:nvGrpSpPr>
        <p:grpSpPr>
          <a:xfrm>
            <a:off x="4284453" y="1071107"/>
            <a:ext cx="4550352" cy="4883877"/>
            <a:chOff x="3922503" y="1433057"/>
            <a:chExt cx="4550352" cy="4883877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1EE256E-DFED-3F0B-1EE4-1B80E45AE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90997" y="4135807"/>
              <a:ext cx="1476375" cy="1704975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3ED0314-3C80-D443-AB15-BCC3D64A6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27985" y="1433057"/>
              <a:ext cx="1476375" cy="1704975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D41592C-658D-2C3E-15EB-A099BDAB9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96480" y="2804449"/>
              <a:ext cx="1476375" cy="170497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D853973-366C-DA45-F3A0-005453857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22503" y="2793200"/>
              <a:ext cx="1476375" cy="1704975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904376C-DE4E-C29D-0E6F-339AE8C6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59491" y="2784432"/>
              <a:ext cx="1476375" cy="170497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973068-2CE3-FCEF-D7D6-1F44ACB843CE}"/>
                </a:ext>
              </a:extLst>
            </p:cNvPr>
            <p:cNvSpPr txBox="1"/>
            <p:nvPr/>
          </p:nvSpPr>
          <p:spPr>
            <a:xfrm>
              <a:off x="5459773" y="3325897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b="1" dirty="0" err="1">
                  <a:solidFill>
                    <a:schemeClr val="accent2">
                      <a:lumMod val="75000"/>
                    </a:schemeClr>
                  </a:solidFill>
                  <a:cs typeface="Helvetica" panose="020B060402020202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Icosagen’s</a:t>
              </a:r>
              <a:endParaRPr lang="et-EE" sz="1600" b="1" dirty="0">
                <a:solidFill>
                  <a:schemeClr val="accent2">
                    <a:lumMod val="75000"/>
                  </a:schemeClr>
                </a:solidFill>
                <a:cs typeface="Helvetica" panose="020B0604020202020204" pitchFamily="34" charset="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r>
                <a:rPr lang="et-EE" sz="1600" b="1" dirty="0">
                  <a:solidFill>
                    <a:schemeClr val="accent2">
                      <a:lumMod val="75000"/>
                    </a:schemeClr>
                  </a:solidFill>
                  <a:cs typeface="Helvetica" panose="020B0604020202020204" pitchFamily="34" charset="0"/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Services</a:t>
              </a:r>
              <a:endParaRPr lang="en-US" sz="1600" b="1" dirty="0">
                <a:solidFill>
                  <a:schemeClr val="accent2">
                    <a:lumMod val="75000"/>
                  </a:schemeClr>
                </a:solidFill>
                <a:cs typeface="Helvetica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A8B555-03BA-CCD4-9581-2E6C8EE5453E}"/>
                </a:ext>
              </a:extLst>
            </p:cNvPr>
            <p:cNvSpPr txBox="1"/>
            <p:nvPr/>
          </p:nvSpPr>
          <p:spPr>
            <a:xfrm>
              <a:off x="6229152" y="1999194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 err="1">
                  <a:solidFill>
                    <a:schemeClr val="bg1"/>
                  </a:solidFill>
                  <a:cs typeface="Helvetica" panose="020B0604020202020204" pitchFamily="34" charset="0"/>
                  <a:hlinkClick r:id="rId8"/>
                </a:rPr>
                <a:t>Antibody</a:t>
              </a:r>
              <a:endParaRPr lang="et-EE" sz="1600" dirty="0">
                <a:solidFill>
                  <a:schemeClr val="bg1"/>
                </a:solidFill>
                <a:cs typeface="Helvetica" panose="020B0604020202020204" pitchFamily="34" charset="0"/>
                <a:hlinkClick r:id="rId8"/>
              </a:endParaRPr>
            </a:p>
            <a:p>
              <a:pPr algn="ctr"/>
              <a:r>
                <a:rPr lang="et-EE" sz="1600" dirty="0" err="1">
                  <a:solidFill>
                    <a:schemeClr val="bg1"/>
                  </a:solidFill>
                  <a:cs typeface="Helvetica" panose="020B0604020202020204" pitchFamily="34" charset="0"/>
                  <a:hlinkClick r:id="rId8"/>
                </a:rPr>
                <a:t>Discovery</a:t>
              </a:r>
              <a:endParaRPr lang="en-US" sz="1600" dirty="0">
                <a:solidFill>
                  <a:schemeClr val="tx2"/>
                </a:solidFill>
                <a:cs typeface="Helvetica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AA95B4-AA23-0AD1-9C9E-49E42666107C}"/>
                </a:ext>
              </a:extLst>
            </p:cNvPr>
            <p:cNvSpPr txBox="1"/>
            <p:nvPr/>
          </p:nvSpPr>
          <p:spPr>
            <a:xfrm>
              <a:off x="6996480" y="3352257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 err="1">
                  <a:solidFill>
                    <a:schemeClr val="bg1"/>
                  </a:solidFill>
                  <a:cs typeface="Helvetica" panose="020B0604020202020204" pitchFamily="34" charset="0"/>
                  <a:hlinkClick r:id="rId9"/>
                </a:rPr>
                <a:t>Antibody</a:t>
              </a:r>
              <a:endParaRPr lang="et-EE" sz="1600" dirty="0">
                <a:solidFill>
                  <a:schemeClr val="bg1"/>
                </a:solidFill>
                <a:cs typeface="Helvetica" panose="020B0604020202020204" pitchFamily="34" charset="0"/>
                <a:hlinkClick r:id="" action="ppaction://noaction"/>
              </a:endParaRPr>
            </a:p>
            <a:p>
              <a:pPr algn="ctr"/>
              <a:r>
                <a:rPr lang="et-EE" sz="1600" dirty="0">
                  <a:solidFill>
                    <a:schemeClr val="bg1"/>
                  </a:solidFill>
                  <a:cs typeface="Helvetica" panose="020B0604020202020204" pitchFamily="34" charset="0"/>
                  <a:hlinkClick r:id="" action="ppaction://noaction"/>
                </a:rPr>
                <a:t>Development</a:t>
              </a:r>
              <a:endParaRPr lang="en-US" sz="1600" dirty="0">
                <a:solidFill>
                  <a:schemeClr val="bg1"/>
                </a:solidFill>
                <a:cs typeface="Helvetica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86D555-AFC2-4E7F-7FAF-FA8F06120CDC}"/>
                </a:ext>
              </a:extLst>
            </p:cNvPr>
            <p:cNvSpPr txBox="1"/>
            <p:nvPr/>
          </p:nvSpPr>
          <p:spPr>
            <a:xfrm>
              <a:off x="4683486" y="4686444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cs typeface="Helvetica" panose="020B0604020202020204" pitchFamily="34" charset="0"/>
                  <a:hlinkClick r:id="" action="ppaction://noaction"/>
                </a:rPr>
                <a:t>Cell Line 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  <a:cs typeface="Helvetica" panose="020B0604020202020204" pitchFamily="34" charset="0"/>
                  <a:hlinkClick r:id="" action="ppaction://noaction"/>
                </a:rPr>
                <a:t>Development</a:t>
              </a:r>
              <a:endParaRPr lang="en-US" sz="1600" dirty="0">
                <a:solidFill>
                  <a:schemeClr val="bg1"/>
                </a:solidFill>
                <a:cs typeface="Helvetica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91BB08-E355-5A3F-7FB0-44C0EA3C9C62}"/>
                </a:ext>
              </a:extLst>
            </p:cNvPr>
            <p:cNvSpPr txBox="1"/>
            <p:nvPr/>
          </p:nvSpPr>
          <p:spPr>
            <a:xfrm>
              <a:off x="3923727" y="3352258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 err="1">
                  <a:solidFill>
                    <a:schemeClr val="bg1"/>
                  </a:solidFill>
                  <a:cs typeface="Helvetica" panose="020B0604020202020204" pitchFamily="34" charset="0"/>
                  <a:hlinkClick r:id="rId10"/>
                </a:rPr>
                <a:t>Protein</a:t>
              </a:r>
              <a:r>
                <a:rPr lang="et-EE" sz="1600" dirty="0">
                  <a:solidFill>
                    <a:schemeClr val="bg1"/>
                  </a:solidFill>
                  <a:cs typeface="Helvetica" panose="020B0604020202020204" pitchFamily="34" charset="0"/>
                  <a:hlinkClick r:id="rId10"/>
                </a:rPr>
                <a:t> </a:t>
              </a:r>
              <a:endParaRPr lang="en-US" sz="1600" dirty="0">
                <a:solidFill>
                  <a:schemeClr val="bg1"/>
                </a:solidFill>
                <a:cs typeface="Helvetica" panose="020B0604020202020204" pitchFamily="34" charset="0"/>
                <a:hlinkClick r:id="rId10"/>
              </a:endParaRPr>
            </a:p>
            <a:p>
              <a:pPr algn="ctr"/>
              <a:r>
                <a:rPr lang="et-EE" sz="1600" dirty="0">
                  <a:solidFill>
                    <a:schemeClr val="bg1"/>
                  </a:solidFill>
                  <a:cs typeface="Helvetica" panose="020B0604020202020204" pitchFamily="34" charset="0"/>
                  <a:hlinkClick r:id="rId10"/>
                </a:rPr>
                <a:t>Production</a:t>
              </a:r>
              <a:endParaRPr lang="en-US" sz="1600" dirty="0">
                <a:solidFill>
                  <a:schemeClr val="bg1"/>
                </a:solidFill>
                <a:cs typeface="Helvetica" panose="020B0604020202020204" pitchFamily="34" charset="0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A5282D51-6B36-3CD6-2B8C-1E0537A69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90997" y="1433057"/>
              <a:ext cx="1476375" cy="170497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FD0D2AF-57B2-C4DE-8B87-A8E45EB32F94}"/>
                </a:ext>
              </a:extLst>
            </p:cNvPr>
            <p:cNvSpPr txBox="1"/>
            <p:nvPr/>
          </p:nvSpPr>
          <p:spPr>
            <a:xfrm>
              <a:off x="4684528" y="2121715"/>
              <a:ext cx="14763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 err="1">
                  <a:solidFill>
                    <a:schemeClr val="bg1"/>
                  </a:solidFill>
                  <a:cs typeface="Helvetica" panose="020B0604020202020204" pitchFamily="34" charset="0"/>
                  <a:hlinkClick r:id="rId11"/>
                </a:rPr>
                <a:t>Analytics</a:t>
              </a:r>
              <a:endParaRPr lang="en-US" sz="1600" dirty="0">
                <a:solidFill>
                  <a:schemeClr val="bg1"/>
                </a:solidFill>
                <a:cs typeface="Helvetica" panose="020B0604020202020204" pitchFamily="34" charset="0"/>
              </a:endParaRP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C118C96-71FE-19BA-9B09-94FA655FF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51637" y="4611959"/>
              <a:ext cx="1476375" cy="170497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8B8D0E-4B79-3A45-FBE9-57329E492FAF}"/>
                </a:ext>
              </a:extLst>
            </p:cNvPr>
            <p:cNvSpPr txBox="1"/>
            <p:nvPr/>
          </p:nvSpPr>
          <p:spPr>
            <a:xfrm>
              <a:off x="6553568" y="5184351"/>
              <a:ext cx="1476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t-EE" sz="1600" dirty="0">
                  <a:solidFill>
                    <a:schemeClr val="bg1"/>
                  </a:solidFill>
                  <a:cs typeface="Helvetica" panose="020B0604020202020204" pitchFamily="34" charset="0"/>
                  <a:hlinkClick r:id="rId12"/>
                </a:rPr>
                <a:t>GMP</a:t>
              </a:r>
              <a:endParaRPr lang="en-US" sz="1600" dirty="0">
                <a:solidFill>
                  <a:schemeClr val="bg1"/>
                </a:solidFill>
                <a:cs typeface="Helvetica" panose="020B0604020202020204" pitchFamily="34" charset="0"/>
                <a:hlinkClick r:id="rId12"/>
              </a:endParaRPr>
            </a:p>
            <a:p>
              <a:pPr algn="ctr"/>
              <a:r>
                <a:rPr lang="et-EE" sz="1600" dirty="0">
                  <a:solidFill>
                    <a:schemeClr val="bg1"/>
                  </a:solidFill>
                  <a:cs typeface="Helvetica" panose="020B0604020202020204" pitchFamily="34" charset="0"/>
                  <a:hlinkClick r:id="rId12"/>
                </a:rPr>
                <a:t>Production</a:t>
              </a:r>
              <a:endParaRPr lang="en-US" sz="1600" dirty="0">
                <a:solidFill>
                  <a:schemeClr val="bg1"/>
                </a:solidFill>
                <a:cs typeface="Helvetica" panose="020B0604020202020204" pitchFamily="34" charset="0"/>
              </a:endParaRPr>
            </a:p>
          </p:txBody>
        </p:sp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id="{A2348A32-2AF3-A7B7-7A74-3B6413A4086B}"/>
              </a:ext>
            </a:extLst>
          </p:cNvPr>
          <p:cNvSpPr txBox="1"/>
          <p:nvPr userDrawn="1"/>
        </p:nvSpPr>
        <p:spPr>
          <a:xfrm>
            <a:off x="6399840" y="6028094"/>
            <a:ext cx="2669653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>
            <a:defPPr>
              <a:defRPr lang="et-E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t-EE" sz="1600" i="1" dirty="0" err="1">
                <a:solidFill>
                  <a:schemeClr val="tx2"/>
                </a:solidFill>
                <a:cs typeface="Calibri" panose="020F0502020204030204" pitchFamily="34" charset="0"/>
              </a:rPr>
              <a:t>Launching</a:t>
            </a:r>
            <a:r>
              <a:rPr lang="et-EE" sz="1600" i="1" dirty="0">
                <a:solidFill>
                  <a:schemeClr val="tx2"/>
                </a:solidFill>
                <a:cs typeface="Calibri" panose="020F0502020204030204" pitchFamily="34" charset="0"/>
              </a:rPr>
              <a:t> in </a:t>
            </a:r>
            <a:r>
              <a:rPr lang="et-EE" sz="1600" i="1" dirty="0" err="1">
                <a:solidFill>
                  <a:schemeClr val="tx2"/>
                </a:solidFill>
                <a:cs typeface="Calibri" panose="020F0502020204030204" pitchFamily="34" charset="0"/>
              </a:rPr>
              <a:t>early</a:t>
            </a:r>
            <a:r>
              <a:rPr lang="et-EE" sz="1600" i="1" dirty="0">
                <a:solidFill>
                  <a:schemeClr val="tx2"/>
                </a:solidFill>
                <a:cs typeface="Calibri" panose="020F0502020204030204" pitchFamily="34" charset="0"/>
              </a:rPr>
              <a:t> 2024</a:t>
            </a:r>
            <a:endParaRPr lang="en-US" sz="1600" i="1" dirty="0">
              <a:solidFill>
                <a:schemeClr val="tx2"/>
              </a:solidFill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0A7A9D-5007-003C-0757-387F8304F5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752921"/>
            <a:ext cx="1923016" cy="6890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7454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D2F84C9-FB57-1CA9-5DFD-0172C2E9C397}"/>
              </a:ext>
            </a:extLst>
          </p:cNvPr>
          <p:cNvSpPr txBox="1">
            <a:spLocks/>
          </p:cNvSpPr>
          <p:nvPr userDrawn="1"/>
        </p:nvSpPr>
        <p:spPr>
          <a:xfrm>
            <a:off x="838200" y="6038069"/>
            <a:ext cx="10515600" cy="369332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700" i="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b="0" dirty="0">
                <a:solidFill>
                  <a:schemeClr val="bg1"/>
                </a:solidFill>
              </a:rPr>
              <a:t>2023 non-confidential slides</a:t>
            </a:r>
            <a:endParaRPr lang="et-EE" b="0" dirty="0">
              <a:solidFill>
                <a:schemeClr val="bg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70" r:id="rId3"/>
    <p:sldLayoutId id="2147483669" r:id="rId4"/>
    <p:sldLayoutId id="2147483678" r:id="rId5"/>
    <p:sldLayoutId id="2147483680" r:id="rId6"/>
    <p:sldLayoutId id="2147483679" r:id="rId7"/>
    <p:sldLayoutId id="2147483690" r:id="rId8"/>
    <p:sldLayoutId id="2147483664" r:id="rId9"/>
    <p:sldLayoutId id="2147483663" r:id="rId10"/>
    <p:sldLayoutId id="2147483692" r:id="rId11"/>
    <p:sldLayoutId id="2147483665" r:id="rId12"/>
    <p:sldLayoutId id="2147483682" r:id="rId13"/>
    <p:sldLayoutId id="2147483689" r:id="rId14"/>
    <p:sldLayoutId id="2147483683" r:id="rId15"/>
    <p:sldLayoutId id="2147483688" r:id="rId16"/>
    <p:sldLayoutId id="2147483671" r:id="rId17"/>
    <p:sldLayoutId id="2147483685" r:id="rId18"/>
    <p:sldLayoutId id="2147483684" r:id="rId19"/>
    <p:sldLayoutId id="2147483686" r:id="rId20"/>
    <p:sldLayoutId id="2147483673" r:id="rId21"/>
    <p:sldLayoutId id="2147483687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_PP_non-conf_template_2023.potm" id="{DCF5EC38-E485-4C84-9FEE-5CE45B4EBB7B}" vid="{6F53C2CA-9A25-4EAC-8B26-70D598828C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Helvetica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Immanuel Sanka</dc:creator>
  <cp:lastModifiedBy>Tomi Lahe</cp:lastModifiedBy>
  <cp:revision>5</cp:revision>
  <cp:lastPrinted>2023-03-17T13:05:21Z</cp:lastPrinted>
  <dcterms:created xsi:type="dcterms:W3CDTF">2026-03-20T09:36:08Z</dcterms:created>
  <dcterms:modified xsi:type="dcterms:W3CDTF">2026-05-14T07:24:45Z</dcterms:modified>
</cp:coreProperties>
</file>