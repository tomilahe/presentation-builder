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3"/>
  </p:sldMasterIdLst>
  <p:notesMasterIdLst>
    <p:notesMasterId r:id="rId4"/>
  </p:notesMasterIdLst>
  <p:handoutMasterIdLst>
    <p:handoutMasterId r:id="rId5"/>
  </p:handout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</p:sldIdLst>
  <p:sldSz cx="12192000" cy="6858000"/>
  <p:notesSz cx="6794500" cy="9931400"/>
  <p:defaultTextStyle>
    <a:defPPr>
      <a:defRPr lang="et-E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C25AB58-E51E-44C5-B02C-BD8DF00A92B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3113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FF204DF-3AC7-CD84-A580-42CB0D7C26C5}" name="Lisett Liblekas" initials="LL" userId="S::lisett.liblekas@icosagen.ee::30955120-5099-484a-b836-3f140e1611f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1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9" autoAdjust="0"/>
    <p:restoredTop sz="94185" autoAdjust="0"/>
  </p:normalViewPr>
  <p:slideViewPr>
    <p:cSldViewPr snapToGrid="0" showGuides="1">
      <p:cViewPr varScale="1">
        <p:scale>
          <a:sx n="127" d="100"/>
          <a:sy n="127" d="100"/>
        </p:scale>
        <p:origin x="504" y="192"/>
      </p:cViewPr>
      <p:guideLst>
        <p:guide orient="horz" pos="3113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2" d="100"/>
          <a:sy n="72" d="100"/>
        </p:scale>
        <p:origin x="3234" y="5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8/10/relationships/authors" Target="author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Sprint Velocity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Velocity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Sprint 1</c:v>
                </c:pt>
                <c:pt idx="1">
                  <c:v>Sprint 2</c:v>
                </c:pt>
                <c:pt idx="2">
                  <c:v>Sprint 3</c:v>
                </c:pt>
                <c:pt idx="3">
                  <c:v>Sprint 4</c:v>
                </c:pt>
                <c:pt idx="4">
                  <c:v>Sprint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20.0</c:v>
                </c:pt>
                <c:pt idx="1">
                  <c:v>25.0</c:v>
                </c:pt>
                <c:pt idx="2">
                  <c:v>28.0</c:v>
                </c:pt>
                <c:pt idx="3">
                  <c:v>30.0</c:v>
                </c:pt>
                <c:pt idx="4">
                  <c:v>32.0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C0055F8-9372-67D1-EBB8-C972EC82E7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A560BA-7D99-0E25-A171-D617BC1DEF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810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2E486-8C34-4591-9819-77E47BAD6410}" type="datetimeFigureOut">
              <a:rPr lang="et-EE" smtClean="0"/>
              <a:t>04.05.26</a:t>
            </a:fld>
            <a:endParaRPr lang="et-E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4EF133-D8FF-263D-5129-6538C23B107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2A6E3A-74DF-A7FE-4898-8AB045D69F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810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CA6C69-7FBF-48C9-B4D4-69C44EE5F551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67246664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8" userDrawn="1">
          <p15:clr>
            <a:srgbClr val="F26B43"/>
          </p15:clr>
        </p15:guide>
        <p15:guide id="2" pos="214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t-EE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E44DDE24-1A3E-45B7-A194-D2823032C6FD}" type="datetimeFigureOut">
              <a:rPr lang="et-EE" smtClean="0"/>
              <a:pPr/>
              <a:t>04.05.26</a:t>
            </a:fld>
            <a:endParaRPr lang="et-EE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t-EE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9486"/>
            <a:ext cx="5435600" cy="3910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t-E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t-E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015EF2FF-4C82-4708-AFCC-C30E5F69F591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169909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TITLE_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037B104-C24F-8091-9BD2-55652B1845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60853-10F1-A278-9266-2B2C627DD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46666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5D3A2-031E-1B51-5E1E-FAC0466AC7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t-EE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7F977D9-DCA1-0113-A323-9371CA04E1C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31850" y="5471974"/>
            <a:ext cx="10521950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1A137F0-6F31-2DFF-5212-992575BAB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098441"/>
            <a:ext cx="10515600" cy="757130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Põhi-pealkiri</a:t>
            </a:r>
            <a:r>
              <a:rPr lang="en-US" dirty="0"/>
              <a:t>: Calibri 48</a:t>
            </a:r>
            <a:endParaRPr lang="et-EE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A1F5F4D-010A-9B4C-5DA6-8BE7D3E4FF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1850" y="752921"/>
            <a:ext cx="1923014" cy="68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9459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TITLE_r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A45C9BCC-0272-BD8E-9A42-AB7F9BE305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918" y="746540"/>
            <a:ext cx="1948696" cy="71070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5C0AD-8ACE-4F6D-E2AF-6C7E02AF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t-EE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67303CA-3ADD-7E6D-0D14-D0FDD311B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46666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245364C-4B93-3729-4E6B-677159E5381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9918" y="5471974"/>
            <a:ext cx="10523882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2E750D-F7AB-AB3A-CDC4-C0C420A8D2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098441"/>
            <a:ext cx="10515600" cy="757130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Põhi-pealkiri</a:t>
            </a:r>
            <a:r>
              <a:rPr lang="en-US" dirty="0"/>
              <a:t>: Calibri 48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604601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_red_high contra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0BDD68A-1D9B-DC2E-36F4-CD58AC3B2B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45C9BCC-0272-BD8E-9A42-AB7F9BE305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918" y="746540"/>
            <a:ext cx="1948696" cy="71070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5C0AD-8ACE-4F6D-E2AF-6C7E02AF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t-EE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67303CA-3ADD-7E6D-0D14-D0FDD311B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46666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245364C-4B93-3729-4E6B-677159E5381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9918" y="5471974"/>
            <a:ext cx="10523882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2E750D-F7AB-AB3A-CDC4-C0C420A8D2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172100"/>
            <a:ext cx="10515600" cy="757130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Põhi-pealkiri</a:t>
            </a:r>
            <a:r>
              <a:rPr lang="en-US" dirty="0"/>
              <a:t>: Calibri 48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382673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95675ED-93F5-4F08-1A6E-59BDE02194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53" y="0"/>
            <a:ext cx="1218949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70969A-507F-D519-6A27-07B32086F68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32712" y="683491"/>
            <a:ext cx="5092851" cy="47089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sz="3400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FD6CE-01B6-D7EE-EA13-0626A1FC0ED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33890" y="1767252"/>
            <a:ext cx="5092849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667A92-D071-5CD9-18D7-3F6920C37F75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3556551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5364018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42F3F5-00B1-2050-F3E9-ED5696D0A35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FB1AA9E-474F-9586-BC22-7DAFEEB04D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6" name="Title 7">
            <a:extLst>
              <a:ext uri="{FF2B5EF4-FFF2-40B4-BE49-F238E27FC236}">
                <a16:creationId xmlns:a16="http://schemas.microsoft.com/office/drawing/2014/main" id="{A7CAD419-1F4F-0547-EB7B-AEAEBF2663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2E4F9B-A631-C887-452A-F8F9ECED4131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4327461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lumn+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5364018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A478A47-4B62-2EC3-32B3-F7FF17A042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72199" y="1825625"/>
            <a:ext cx="5181599" cy="435133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2CDA5E3D-D86E-8B54-2053-EC080ADBE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FA8CA80-B080-13B3-DBB2-F48DE856F0A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72200" y="6335713"/>
            <a:ext cx="5181600" cy="323850"/>
          </a:xfrm>
          <a:prstGeom prst="rect">
            <a:avLst/>
          </a:prstGeom>
        </p:spPr>
        <p:txBody>
          <a:bodyPr/>
          <a:lstStyle>
            <a:lvl1pPr>
              <a:defRPr sz="1200" b="0" i="1">
                <a:solidFill>
                  <a:schemeClr val="tx1"/>
                </a:solidFill>
              </a:defRPr>
            </a:lvl1pPr>
            <a:lvl2pPr>
              <a:defRPr sz="1000" i="1">
                <a:solidFill>
                  <a:schemeClr val="tx1"/>
                </a:solidFill>
              </a:defRPr>
            </a:lvl2pPr>
            <a:lvl3pPr>
              <a:defRPr sz="1000" i="1">
                <a:solidFill>
                  <a:schemeClr val="tx1"/>
                </a:solidFill>
              </a:defRPr>
            </a:lvl3pPr>
            <a:lvl4pPr>
              <a:defRPr sz="1000" i="1">
                <a:solidFill>
                  <a:schemeClr val="tx1"/>
                </a:solidFill>
              </a:defRPr>
            </a:lvl4pPr>
            <a:lvl5pPr>
              <a:defRPr sz="1000" i="1">
                <a:solidFill>
                  <a:schemeClr val="tx1"/>
                </a:solidFill>
              </a:defRPr>
            </a:lvl5pPr>
          </a:lstStyle>
          <a:p>
            <a:pPr lvl="0"/>
            <a:r>
              <a:rPr lang="it-IT" dirty="0"/>
              <a:t>Pildi viide– “Calibri italic” või “Calibri light italic”. 10-13 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EB7420-3439-A165-D94D-7109348CAFAA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681904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_column+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5364018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2CDA5E3D-D86E-8B54-2053-EC080ADBE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310FB0-7DF8-8E4C-C284-4D5A805E14B0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1884180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textbox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10698018" cy="4351338"/>
          </a:xfrm>
          <a:prstGeom prst="rect">
            <a:avLst/>
          </a:prstGeom>
        </p:spPr>
        <p:txBody>
          <a:bodyPr/>
          <a:lstStyle>
            <a:lvl1pPr marL="457200" indent="-457200">
              <a:buFont typeface="Arial" panose="020B0604020202020204" pitchFamily="34" charset="0"/>
              <a:buChar char="•"/>
              <a:defRPr sz="2800" b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2CDA5E3D-D86E-8B54-2053-EC080ADBE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36E4EF-9FD2-7735-1722-6899D8127ACF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9757868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6AB6E5-6483-8D04-20DD-CD342AF10E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82240" y="0"/>
            <a:ext cx="950976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B8DF08D-0892-A83E-D60E-65F5CC43E1D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386820EE-E8A8-49A5-C13D-430E140197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9055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DBD78A-DE19-2186-122E-268969E6A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8358750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2ED430-87BE-FAC7-6866-207C22442F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372600" cy="685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0BF780F6-D4BA-7DCB-A5CC-EE4806BF01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049C67D7-7752-BD97-2871-260540982E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97641" y="1730488"/>
            <a:ext cx="5649809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0A19316-7433-3663-9FB3-C546D6DE6F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8259906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BFAD01-2823-82B9-F4E0-CBA5FFE440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1A137F0-6F31-2DFF-5212-992575BAB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386ACA0-7695-36E1-7552-3AF971CD40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4DDF3696-551A-7EC2-4489-43BAFEC4A3D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8039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0928226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B42324-725D-2EB8-2C66-01ECAA6A29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51860" y="0"/>
            <a:ext cx="874014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1A137F0-6F31-2DFF-5212-992575BAB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386ACA0-7695-36E1-7552-3AF971CD40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4DDF3696-551A-7EC2-4489-43BAFEC4A3D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8039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2448683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F92FF81-03D6-589E-D4DF-3EE5CEAD74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6386ACA0-7695-36E1-7552-3AF971CD40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0986B6CD-EC6E-2659-75E6-E36B68C2C95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5245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078D0A6-FDE3-D246-27F2-9F5F9F9E56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263238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contacts_whit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4C2C05D-F7B0-3F4A-C55A-DBFFE0759B0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721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140F2358-E719-4D8C-ECFC-CB3BBBA048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8921" y="50561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7E6DCDA9-930E-D7E6-7714-C885E262D86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8921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78" name="Picture Placeholder 8">
            <a:extLst>
              <a:ext uri="{FF2B5EF4-FFF2-40B4-BE49-F238E27FC236}">
                <a16:creationId xmlns:a16="http://schemas.microsoft.com/office/drawing/2014/main" id="{0ABC76DC-5869-49CD-D6B5-B6337F6FFF7A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3776757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80" name="Text Placeholder 33">
            <a:extLst>
              <a:ext uri="{FF2B5EF4-FFF2-40B4-BE49-F238E27FC236}">
                <a16:creationId xmlns:a16="http://schemas.microsoft.com/office/drawing/2014/main" id="{B56A3713-6C26-EA28-6980-1929BBE3C34A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3659957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1" name="Text Placeholder 60">
            <a:extLst>
              <a:ext uri="{FF2B5EF4-FFF2-40B4-BE49-F238E27FC236}">
                <a16:creationId xmlns:a16="http://schemas.microsoft.com/office/drawing/2014/main" id="{8AA2532C-50EF-F833-1900-40C41C64D80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659957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88" name="Picture Placeholder 8">
            <a:extLst>
              <a:ext uri="{FF2B5EF4-FFF2-40B4-BE49-F238E27FC236}">
                <a16:creationId xmlns:a16="http://schemas.microsoft.com/office/drawing/2014/main" id="{92764AE8-30EC-BFBC-1026-AA1B7B5663FD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6737750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90" name="Text Placeholder 33">
            <a:extLst>
              <a:ext uri="{FF2B5EF4-FFF2-40B4-BE49-F238E27FC236}">
                <a16:creationId xmlns:a16="http://schemas.microsoft.com/office/drawing/2014/main" id="{87831BCD-2CC3-BDA7-FF47-5C030AE3C1D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620950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1" name="Text Placeholder 60">
            <a:extLst>
              <a:ext uri="{FF2B5EF4-FFF2-40B4-BE49-F238E27FC236}">
                <a16:creationId xmlns:a16="http://schemas.microsoft.com/office/drawing/2014/main" id="{7819BA3A-95FC-3CDA-EBCE-8E4E777F7543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620950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92" name="Picture Placeholder 8">
            <a:extLst>
              <a:ext uri="{FF2B5EF4-FFF2-40B4-BE49-F238E27FC236}">
                <a16:creationId xmlns:a16="http://schemas.microsoft.com/office/drawing/2014/main" id="{FB1772AE-CC89-C24A-94BA-8CFBB8AD1C7D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848786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94" name="Text Placeholder 33">
            <a:extLst>
              <a:ext uri="{FF2B5EF4-FFF2-40B4-BE49-F238E27FC236}">
                <a16:creationId xmlns:a16="http://schemas.microsoft.com/office/drawing/2014/main" id="{DEC578C4-C5AA-6E3C-9F30-993758121223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9731986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5" name="Text Placeholder 60">
            <a:extLst>
              <a:ext uri="{FF2B5EF4-FFF2-40B4-BE49-F238E27FC236}">
                <a16:creationId xmlns:a16="http://schemas.microsoft.com/office/drawing/2014/main" id="{1E40FADD-478F-39FD-85E3-A2E55DA07DF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731986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2" name="Title 16">
            <a:extLst>
              <a:ext uri="{FF2B5EF4-FFF2-40B4-BE49-F238E27FC236}">
                <a16:creationId xmlns:a16="http://schemas.microsoft.com/office/drawing/2014/main" id="{6E9984FE-859B-F235-FA0B-4A62DDD05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6518" y="1373248"/>
            <a:ext cx="11598965" cy="72220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1148631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1.png"/><Relationship Id="rId17" Type="http://schemas.openxmlformats.org/officeDocument/2006/relationships/image" Target="../media/image2.png"/><Relationship Id="rId18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5950CAD-20B8-F2DA-717A-139C78BCCACE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29918" y="746540"/>
            <a:ext cx="1948696" cy="71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854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8" r:id="rId2"/>
    <p:sldLayoutId id="2147483693" r:id="rId3"/>
    <p:sldLayoutId id="2147483670" r:id="rId4"/>
    <p:sldLayoutId id="2147483683" r:id="rId5"/>
    <p:sldLayoutId id="2147483688" r:id="rId6"/>
    <p:sldLayoutId id="2147483694" r:id="rId7"/>
    <p:sldLayoutId id="2147483691" r:id="rId8"/>
    <p:sldLayoutId id="2147483678" r:id="rId9"/>
    <p:sldLayoutId id="2147483680" r:id="rId10"/>
    <p:sldLayoutId id="2147483679" r:id="rId11"/>
    <p:sldLayoutId id="2147483696" r:id="rId12"/>
    <p:sldLayoutId id="2147483690" r:id="rId13"/>
    <p:sldLayoutId id="2147483671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bg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None/>
        <a:defRPr sz="2000" b="1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700" i="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t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An Overview of Scrum, Kanban, and Core Practices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t>Prepared by: Your Name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Agile Development Methodologies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t>Software delivery is accelerating; Agile provides a proven way to keep pace.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r>
              <a:t>Agile is a lightweight, iterative approach that delivers working software early and frequently.</a:t>
            </a:r>
          </a:p>
          <a:p>
            <a:r>
              <a:t>It emphasizes collaboration, customer feedback, and adaptive planning.</a:t>
            </a:r>
          </a:p>
          <a:p>
            <a:r>
              <a:t>The goal is to maximize value while minimizing waste.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What is Agile?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r>
              <a:t>Individuals and interactions over processes and tools.</a:t>
            </a:r>
          </a:p>
          <a:p>
            <a:r>
              <a:t>Working software over comprehensive documentation.</a:t>
            </a:r>
          </a:p>
          <a:p>
            <a:r>
              <a:t>Customer collaboration over contract negotiation.</a:t>
            </a:r>
          </a:p>
          <a:p>
            <a:r>
              <a:t>Responding to change over following a plan.</a:t>
            </a:r>
          </a:p>
          <a:p>
            <a:r>
              <a:t>Sustainable development.</a:t>
            </a:r>
          </a:p>
          <a:p>
            <a:r>
              <a:t>Continuous attention to technical excellence.</a:t>
            </a:r>
          </a:p>
          <a:p>
            <a:r>
              <a:t>Simplicity – the art of maximizing the amount of work not done.</a:t>
            </a:r>
          </a:p>
          <a:p>
            <a:r>
              <a:t>Self‑organizing teams.</a:t>
            </a:r>
          </a:p>
          <a:p>
            <a:r>
              <a:t>Regular reflection and adaptation.</a:t>
            </a:r>
          </a:p>
          <a:p>
            <a:r>
              <a:t>Business value delivered frequently.</a:t>
            </a:r>
          </a:p>
          <a:p>
            <a:r>
              <a:t>Empowered teams.</a:t>
            </a:r>
          </a:p>
          <a:p>
            <a:r>
              <a:t>Built‑in quality.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Agile Manifesto Principles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r>
              <a:t>Roles:</a:t>
            </a:r>
          </a:p>
          <a:p>
            <a:r>
              <a:t>Product Owner</a:t>
            </a:r>
          </a:p>
          <a:p>
            <a:r>
              <a:t>Scrum Master</a:t>
            </a:r>
          </a:p>
          <a:p>
            <a:r>
              <a:t>Development Team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0" sz="quarter"/>
          </p:nvPr>
        </p:nvSpPr>
        <p:spPr/>
        <p:txBody>
          <a:bodyPr>
            <a:normAutofit/>
          </a:bodyPr>
          <a:p>
            <a:r>
              <a:t/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Scrum Framework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/>
          </a:bodyPr>
          <a:lstStyle/>
          <a:p>
            <a:r>
              <a:t>Key events: Sprint Planning, Daily Scrum, Review, Retrospective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r>
              <a:t>Core practices:</a:t>
            </a:r>
          </a:p>
          <a:p>
            <a:r>
              <a:t>Visualize workflow</a:t>
            </a:r>
          </a:p>
          <a:p>
            <a:r>
              <a:t>Limit work in progress</a:t>
            </a:r>
          </a:p>
          <a:p>
            <a:r>
              <a:t>Manage flow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0" sz="quarter"/>
          </p:nvPr>
        </p:nvSpPr>
        <p:spPr/>
        <p:txBody>
          <a:bodyPr>
            <a:normAutofit/>
          </a:bodyPr>
          <a:p>
            <a:r>
              <a:t/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Kanban Framework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/>
          </a:bodyPr>
          <a:lstStyle/>
          <a:p>
            <a:r>
              <a:t>Metrics: Lead time, Cycle time, Throughput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r>
              <a:t>Scrum emphasizes fixed‑length sprints and defined roles.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>
            <a:normAutofit/>
          </a:bodyPr>
          <a:lstStyle/>
          <a:p>
            <a:r>
              <a:t>Kanban focuses on continuous flow and flexible priorities.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Scrum vs. Kanban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65760">
                <a:tc>
                  <a:txBody>
                    <a:bodyPr/>
                    <a:lstStyle/>
                    <a:p>
                      <a:r>
                        <a:rPr b="1"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Scrum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Kanban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Cadence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Time‑boxed sprints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Continuous pull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Roles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Product Owner, Scrum Master,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Team (no prescribed roles)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Sprint backlog, task 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Kanban board with columns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Velocity, Sprint Goal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Lead time, Cycle time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r>
              <a:t>Faster time‑to‑market</a:t>
            </a:r>
          </a:p>
          <a:p>
            <a:r>
              <a:t>Higher product quality</a:t>
            </a:r>
          </a:p>
          <a:p>
            <a:r>
              <a:t>Improved stakeholder collaboration</a:t>
            </a:r>
          </a:p>
          <a:p>
            <a:r>
              <a:t>Greater adaptability to change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Benefits of Agile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r>
              <a:t>Cultural resistance → incremental mindset training</a:t>
            </a:r>
          </a:p>
          <a:p>
            <a:r>
              <a:t>Scope creep → clear Definition of Done</a:t>
            </a:r>
          </a:p>
          <a:p>
            <a:r>
              <a:t>Estimation uncertainty → use relative sizing (story points)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Challenges &amp; Mitigations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r>
              <a:t>The chart below shows a typical velocity trend across five sprints.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Sprint Velocity Over Time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463040"/>
          <a:ext cx="1088136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r>
              <a:t>Agile delivers value faster.</a:t>
            </a:r>
          </a:p>
          <a:p>
            <a:r>
              <a:t>Choose the framework that fits your workflow.</a:t>
            </a:r>
          </a:p>
          <a:p>
            <a:r>
              <a:t>Start small, iterate, and scale responsibly.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Key Take‑aways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3" sz="quarter"/>
          </p:nvPr>
        </p:nvSpPr>
        <p:spPr/>
        <p:txBody>
          <a:bodyPr/>
          <a:p/>
        </p:txBody>
      </p:sp>
      <p:sp>
        <p:nvSpPr>
          <p:cNvPr id="3" name="Text Placeholder 2"/>
          <p:cNvSpPr>
            <a:spLocks noGrp="1"/>
          </p:cNvSpPr>
          <p:nvPr>
            <p:ph type="body" idx="23" sz="quarter"/>
          </p:nvPr>
        </p:nvSpPr>
        <p:spPr/>
        <p:txBody>
          <a:bodyPr>
            <a:normAutofit/>
          </a:bodyPr>
          <a:lstStyle/>
          <a:p>
            <a:r>
              <a:t>Thank you for your time!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40" sz="quarter"/>
          </p:nvPr>
        </p:nvSpPr>
        <p:spPr/>
        <p:txBody>
          <a:bodyPr>
            <a:normAutofit/>
          </a:bodyPr>
          <a:lstStyle/>
          <a:p>
            <a:r>
              <a:t>Email: you@example.com</a:t>
            </a:r>
          </a:p>
          <a:p>
            <a:r>
              <a:t>Phone: 123‑456‑7890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idx="50" sz="quarter"/>
          </p:nvPr>
        </p:nvSpPr>
        <p:spPr/>
        <p:txBody>
          <a:bodyPr/>
          <a:p/>
        </p:txBody>
      </p:sp>
      <p:sp>
        <p:nvSpPr>
          <p:cNvPr id="6" name="Text Placeholder 5"/>
          <p:cNvSpPr>
            <a:spLocks noGrp="1"/>
          </p:cNvSpPr>
          <p:nvPr>
            <p:ph type="body" idx="51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52" sz="quarter"/>
          </p:nvPr>
        </p:nvSpPr>
        <p:spPr/>
        <p:txBody>
          <a:bodyPr/>
          <a:lstStyle/>
          <a:p/>
        </p:txBody>
      </p:sp>
      <p:sp>
        <p:nvSpPr>
          <p:cNvPr id="8" name="Picture Placeholder 7"/>
          <p:cNvSpPr>
            <a:spLocks noGrp="1"/>
          </p:cNvSpPr>
          <p:nvPr>
            <p:ph type="pic" idx="53" sz="quarter"/>
          </p:nvPr>
        </p:nvSpPr>
        <p:spPr/>
        <p:txBody>
          <a:bodyPr/>
          <a:p/>
        </p:txBody>
      </p:sp>
      <p:sp>
        <p:nvSpPr>
          <p:cNvPr id="9" name="Text Placeholder 8"/>
          <p:cNvSpPr>
            <a:spLocks noGrp="1"/>
          </p:cNvSpPr>
          <p:nvPr>
            <p:ph type="body" idx="54" sz="quarter"/>
          </p:nvPr>
        </p:nvSpPr>
        <p:spPr/>
        <p:txBody>
          <a:bodyPr/>
          <a:lstStyle/>
          <a:p/>
        </p:txBody>
      </p:sp>
      <p:sp>
        <p:nvSpPr>
          <p:cNvPr id="10" name="Text Placeholder 9"/>
          <p:cNvSpPr>
            <a:spLocks noGrp="1"/>
          </p:cNvSpPr>
          <p:nvPr>
            <p:ph type="body" idx="55" sz="quarter"/>
          </p:nvPr>
        </p:nvSpPr>
        <p:spPr/>
        <p:txBody>
          <a:bodyPr/>
          <a:lstStyle/>
          <a:p/>
        </p:txBody>
      </p:sp>
      <p:sp>
        <p:nvSpPr>
          <p:cNvPr id="11" name="Picture Placeholder 10"/>
          <p:cNvSpPr>
            <a:spLocks noGrp="1"/>
          </p:cNvSpPr>
          <p:nvPr>
            <p:ph type="pic" idx="56" sz="quarter"/>
          </p:nvPr>
        </p:nvSpPr>
        <p:spPr/>
        <p:txBody>
          <a:bodyPr/>
          <a:p/>
        </p:txBody>
      </p:sp>
      <p:sp>
        <p:nvSpPr>
          <p:cNvPr id="12" name="Text Placeholder 11"/>
          <p:cNvSpPr>
            <a:spLocks noGrp="1"/>
          </p:cNvSpPr>
          <p:nvPr>
            <p:ph type="body" idx="57" sz="quarter"/>
          </p:nvPr>
        </p:nvSpPr>
        <p:spPr/>
        <p:txBody>
          <a:bodyPr/>
          <a:lstStyle/>
          <a:p/>
        </p:txBody>
      </p:sp>
      <p:sp>
        <p:nvSpPr>
          <p:cNvPr id="13" name="Text Placeholder 12"/>
          <p:cNvSpPr>
            <a:spLocks noGrp="1"/>
          </p:cNvSpPr>
          <p:nvPr>
            <p:ph type="body" idx="58" sz="quarter"/>
          </p:nvPr>
        </p:nvSpPr>
        <p:spPr/>
        <p:txBody>
          <a:bodyPr/>
          <a:lstStyle/>
          <a:p/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Contact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cosagen">
      <a:dk1>
        <a:srgbClr val="363738"/>
      </a:dk1>
      <a:lt1>
        <a:srgbClr val="FFFFFF"/>
      </a:lt1>
      <a:dk2>
        <a:srgbClr val="6D6E71"/>
      </a:dk2>
      <a:lt2>
        <a:srgbClr val="FFFFFF"/>
      </a:lt2>
      <a:accent1>
        <a:srgbClr val="A71930"/>
      </a:accent1>
      <a:accent2>
        <a:srgbClr val="D52B1E"/>
      </a:accent2>
      <a:accent3>
        <a:srgbClr val="6D6E71"/>
      </a:accent3>
      <a:accent4>
        <a:srgbClr val="D1D3D4"/>
      </a:accent4>
      <a:accent5>
        <a:srgbClr val="468160"/>
      </a:accent5>
      <a:accent6>
        <a:srgbClr val="AD1125"/>
      </a:accent6>
      <a:hlink>
        <a:srgbClr val="FFFFFF"/>
      </a:hlink>
      <a:folHlink>
        <a:srgbClr val="FFFFFF"/>
      </a:folHlink>
    </a:clrScheme>
    <a:fontScheme name="Icosagen 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cosagen slides template 2026" id="{AC2B8190-1A20-4844-A934-AB0C1BFF4827}" vid="{224A3D10-23FE-4862-9CC1-E26B608A80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42169F001A2F4B9C451C5841F744E4" ma:contentTypeVersion="13" ma:contentTypeDescription="Create a new document." ma:contentTypeScope="" ma:versionID="a230064bbda22ee7a9e873cec57c43a8">
  <xsd:schema xmlns:xsd="http://www.w3.org/2001/XMLSchema" xmlns:xs="http://www.w3.org/2001/XMLSchema" xmlns:p="http://schemas.microsoft.com/office/2006/metadata/properties" xmlns:ns2="69bb39e4-9e1d-40b2-a19b-595eaf90860b" xmlns:ns3="5da713d5-fe66-4fdc-bc3b-6ce8bac2bb49" targetNamespace="http://schemas.microsoft.com/office/2006/metadata/properties" ma:root="true" ma:fieldsID="2b21d18c70ef1a2833901cd15153dea6" ns2:_="" ns3:_="">
    <xsd:import namespace="69bb39e4-9e1d-40b2-a19b-595eaf90860b"/>
    <xsd:import namespace="5da713d5-fe66-4fdc-bc3b-6ce8bac2bb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bb39e4-9e1d-40b2-a19b-595eaf9086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589c0410-f6d5-4bb2-946e-3672772a52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a713d5-fe66-4fdc-bc3b-6ce8bac2bb4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d443559f-c804-4b7e-97e4-7d7cbc9e796f}" ma:internalName="TaxCatchAll" ma:showField="CatchAllData" ma:web="5da713d5-fe66-4fdc-bc3b-6ce8bac2bb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A1A3C03-C42B-4322-B9DC-62F802BF44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001416-DC15-4FDA-8C31-CD136E074A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9bb39e4-9e1d-40b2-a19b-595eaf90860b"/>
    <ds:schemaRef ds:uri="5da713d5-fe66-4fdc-bc3b-6ce8bac2bb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Calibri</vt:lpstr>
      <vt:lpstr>Calibri Light</vt:lpstr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Tomi Lahe</dc:creator>
  <cp:lastModifiedBy>Tomi Lahe</cp:lastModifiedBy>
  <cp:revision>1</cp:revision>
  <cp:lastPrinted>2023-03-17T13:05:21Z</cp:lastPrinted>
  <dcterms:created xsi:type="dcterms:W3CDTF">2026-05-04T16:35:03Z</dcterms:created>
  <dcterms:modified xsi:type="dcterms:W3CDTF">2026-05-04T16:39:56Z</dcterms:modified>
</cp:coreProperties>
</file>