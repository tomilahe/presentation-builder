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Agile Framework Popularity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Scrum</c:v>
                </c:pt>
                <c:pt idx="1">
                  <c:v>Kanban</c:v>
                </c:pt>
                <c:pt idx="2">
                  <c:v>XP</c:v>
                </c:pt>
                <c:pt idx="3">
                  <c:v>Lean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55.0</c:v>
                </c:pt>
                <c:pt idx="1">
                  <c:v>25.0</c:v>
                </c:pt>
                <c:pt idx="2">
                  <c:v>10.0</c:v>
                </c:pt>
                <c:pt idx="3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Market Share by Framework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Scrum</c:v>
                </c:pt>
                <c:pt idx="1">
                  <c:v>Kanban</c:v>
                </c:pt>
                <c:pt idx="2">
                  <c:v>XP</c:v>
                </c:pt>
                <c:pt idx="3">
                  <c:v>Lean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55.0</c:v>
                </c:pt>
                <c:pt idx="1">
                  <c:v>25.0</c:v>
                </c:pt>
                <c:pt idx="2">
                  <c:v>10.0</c:v>
                </c:pt>
                <c:pt idx="3">
                  <c:v>10.0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A fast, flexible approach to delivering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Prepared by Your Name – May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Agile Development Methodologies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What is Agile?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Agile is an iterative, incremental approach to software development that emphasizes collaboration, customer feedback, and rapid delivery of working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Individuals and interactions over processes and tools</a:t>
            </a:r>
          </a:p>
          <a:p>
            <a:r>
              <a:t>Working software over comprehensive documentation</a:t>
            </a:r>
          </a:p>
          <a:p>
            <a:r>
              <a:t>Customer collaboration over contract negotiation</a:t>
            </a:r>
          </a:p>
          <a:p>
            <a:r>
              <a:t>Responding to change over following a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Agile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Events:</a:t>
            </a:r>
          </a:p>
          <a:p>
            <a:r>
              <a:t>- Sprint Planning</a:t>
            </a:r>
          </a:p>
          <a:p>
            <a:r>
              <a:t>- Daily Scrum</a:t>
            </a:r>
          </a:p>
          <a:p>
            <a:r>
              <a:t>- Sprint Review</a:t>
            </a:r>
          </a:p>
          <a:p>
            <a:r>
              <a:t>- Sprint Retrospective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Roles:</a:t>
            </a:r>
          </a:p>
          <a:p>
            <a:r>
              <a:t>- Product Owner</a:t>
            </a:r>
          </a:p>
          <a:p>
            <a:r>
              <a:t>- Scrum Master</a:t>
            </a:r>
          </a:p>
          <a:p>
            <a:r>
              <a:t>- Development Team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Scrum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Board Elements:</a:t>
            </a:r>
          </a:p>
          <a:p>
            <a:r>
              <a:t>- Columns (To-Do, In-Progress, Done)</a:t>
            </a:r>
          </a:p>
          <a:p>
            <a:r>
              <a:t>- Cards representing work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Practices:</a:t>
            </a:r>
          </a:p>
          <a:p>
            <a:r>
              <a:t>- Limit Work-In-Progress</a:t>
            </a:r>
          </a:p>
          <a:p>
            <a:r>
              <a:t>- Visualize flow</a:t>
            </a:r>
          </a:p>
          <a:p>
            <a:r>
              <a:t>- Manage flow</a:t>
            </a:r>
          </a:p>
          <a:p>
            <a:r>
              <a:t>- Continuous improvement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Kanban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Popularity of Agile Frameworks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8813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Extreme Programming (XP)</a:t>
            </a:r>
          </a:p>
          <a:p>
            <a:r>
              <a:t>Lean Software Development</a:t>
            </a:r>
          </a:p>
          <a:p>
            <a:r>
              <a:t>Crystal</a:t>
            </a:r>
          </a:p>
          <a:p>
            <a:r>
              <a:t>Feature-Driven Development (FDD)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Other Agile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Faster time-to-market</a:t>
            </a:r>
          </a:p>
          <a:p>
            <a:r>
              <a:t>Higher product quality</a:t>
            </a:r>
          </a:p>
          <a:p>
            <a:r>
              <a:t>Improved team morale</a:t>
            </a:r>
          </a:p>
          <a:p>
            <a:r>
              <a:t>Better risk management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Benefits of Agile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Cultural resistance</a:t>
            </a:r>
          </a:p>
          <a:p>
            <a:r>
              <a:t>Insufficient training</a:t>
            </a:r>
          </a:p>
          <a:p>
            <a:r>
              <a:t>Scope creep</a:t>
            </a:r>
          </a:p>
          <a:p>
            <a:r>
              <a:t>Incomplete definition of done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Agile Framework Market Share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8813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First Steps:</a:t>
            </a:r>
          </a:p>
          <a:p>
            <a:r>
              <a:t>- Secure executive sponsorship</a:t>
            </a:r>
          </a:p>
          <a:p>
            <a:r>
              <a:t>- Form cross-functional teams</a:t>
            </a:r>
          </a:p>
          <a:p>
            <a:r>
              <a:t>- Define a pilot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Recommended Tools:</a:t>
            </a:r>
          </a:p>
          <a:p>
            <a:r>
              <a:t>- Jira / Azure Boards</a:t>
            </a:r>
          </a:p>
          <a:p>
            <a:r>
              <a:t>- Trello</a:t>
            </a:r>
          </a:p>
          <a:p>
            <a:r>
              <a:t>- Version control (Git)</a:t>
            </a:r>
          </a:p>
          <a:p>
            <a:r>
              <a:t>- CI/CD pipelines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Implementing Agile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Agile delivers value through iteration, collaboration, and adaptability.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Start small, iterate, and scale.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Takeaways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>
            <a:normAutofit/>
          </a:bodyPr>
          <a:lstStyle/>
          <a:p>
            <a:r>
              <a:t>Email: your.email@example.com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0" sz="quarter"/>
          </p:nvPr>
        </p:nvSpPr>
        <p:spPr/>
        <p:txBody>
          <a:bodyPr>
            <a:normAutofit/>
          </a:bodyPr>
          <a:lstStyle/>
          <a:p>
            <a:r>
              <a:t>Phone: +1 234 567 890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50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51" sz="quarter"/>
          </p:nvPr>
        </p:nvSpPr>
        <p:spPr/>
        <p:txBody>
          <a:bodyPr>
            <a:normAutofit/>
          </a:bodyPr>
          <a:lstStyle/>
          <a:p>
            <a:r>
              <a:t>LinkedIn: linkedin.com/in/yourprofile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53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Picture Placeholder 10"/>
          <p:cNvSpPr>
            <a:spLocks noGrp="1"/>
          </p:cNvSpPr>
          <p:nvPr>
            <p:ph type="pic" idx="56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/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