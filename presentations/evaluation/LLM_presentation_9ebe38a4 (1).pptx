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Parameter Count of Prominent LLMs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(B)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GPT‑2</c:v>
                </c:pt>
                <c:pt idx="1">
                  <c:v>GPT‑3</c:v>
                </c:pt>
                <c:pt idx="2">
                  <c:v>GPT‑4</c:v>
                </c:pt>
                <c:pt idx="3">
                  <c:v>Claude</c:v>
                </c:pt>
                <c:pt idx="4">
                  <c:v>LLaMA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175.0</c:v>
                </c:pt>
                <c:pt idx="2">
                  <c:v>540.0</c:v>
                </c:pt>
                <c:pt idx="3">
                  <c:v>100.0</c:v>
                </c:pt>
                <c:pt idx="4">
                  <c:v>65.0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Typical Accuracy Across Tasks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Summarization</c:v>
                </c:pt>
                <c:pt idx="1">
                  <c:v>Translation</c:v>
                </c:pt>
                <c:pt idx="2">
                  <c:v>QA</c:v>
                </c:pt>
                <c:pt idx="3">
                  <c:v>Coding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85.0</c:v>
                </c:pt>
                <c:pt idx="1">
                  <c:v>88.0</c:v>
                </c:pt>
                <c:pt idx="2">
                  <c:v>90.0</c:v>
                </c:pt>
                <c:pt idx="3">
                  <c:v>82.0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An Overview of Capabilities and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>Presented by Your Name – May 2026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Large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What is a Large Language Model?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A neural network trained on massive text corpora to understand and generate human‑like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Transformer encoder‑decoder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Self‑attention mechanisms enable context‑aware representations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Core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Billions of tokens from web crawls, books, code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Multilingual corpora covering 100+ languages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Training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Text generation</a:t>
            </a:r>
          </a:p>
          <a:p>
            <a:r>
              <a:t>Summarization</a:t>
            </a:r>
          </a:p>
          <a:p>
            <a:r>
              <a:t>Translation</a:t>
            </a:r>
          </a:p>
          <a:p>
            <a:r>
              <a:t>Question answering</a:t>
            </a:r>
          </a:p>
          <a:p>
            <a:r>
              <a:t>Code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Reasoning</a:t>
            </a:r>
          </a:p>
          <a:p>
            <a:r>
              <a:t>Tool use</a:t>
            </a:r>
          </a:p>
          <a:p>
            <a:r>
              <a:t>Knowledge retrieval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Key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Model Size vs. Parameters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10972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Performance on Benchmarks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10972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Customer support bots</a:t>
            </a:r>
          </a:p>
          <a:p>
            <a:r>
              <a:t>Content creation</a:t>
            </a:r>
          </a:p>
          <a:p>
            <a:r>
              <a:t>Code assistants</a:t>
            </a:r>
          </a:p>
          <a:p>
            <a:r>
              <a:t>Scientific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Personalized tutoring</a:t>
            </a:r>
          </a:p>
          <a:p>
            <a:r>
              <a:t>Data analysis</a:t>
            </a:r>
          </a:p>
          <a:p>
            <a:r>
              <a:t>Creative writing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Real‑World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Bias and fairness issues</a:t>
            </a:r>
          </a:p>
          <a:p>
            <a:r>
              <a:t>Hallucinations and misinformation</a:t>
            </a:r>
          </a:p>
          <a:p>
            <a:r>
              <a:t>High compute and energy cost</a:t>
            </a:r>
          </a:p>
          <a:p>
            <a:r>
              <a:t>Security and misuse concerns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Challenges &amp; Risks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>
            <a:normAutofit/>
          </a:bodyPr>
          <a:lstStyle/>
          <a:p>
            <a:r>
              <a:t>Emerging multimodal models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0" sz="quarter"/>
          </p:nvPr>
        </p:nvSpPr>
        <p:spPr/>
        <p:txBody>
          <a:bodyPr>
            <a:normAutofit/>
          </a:bodyPr>
          <a:lstStyle/>
          <a:p>
            <a:r>
              <a:t>More efficient training techniques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50" sz="quarter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51" sz="quarter"/>
          </p:nvPr>
        </p:nvSpPr>
        <p:spPr/>
        <p:txBody>
          <a:bodyPr>
            <a:normAutofit/>
          </a:bodyPr>
          <a:lstStyle/>
          <a:p>
            <a:r>
              <a:t>Open‑source collaborations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/>
        </p:txBody>
      </p:sp>
      <p:sp>
        <p:nvSpPr>
          <p:cNvPr id="8" name="Picture Placeholder 7"/>
          <p:cNvSpPr>
            <a:spLocks noGrp="1"/>
          </p:cNvSpPr>
          <p:nvPr>
            <p:ph type="pic" idx="53" sz="quarter"/>
          </p:nvPr>
        </p:nvSpPr>
        <p:spPr/>
        <p:txBody>
          <a:bodyPr/>
          <a:p/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/>
        </p:txBody>
      </p:sp>
      <p:sp>
        <p:nvSpPr>
          <p:cNvPr id="11" name="Picture Placeholder 10"/>
          <p:cNvSpPr>
            <a:spLocks noGrp="1"/>
          </p:cNvSpPr>
          <p:nvPr>
            <p:ph type="pic" idx="56" sz="quarter"/>
          </p:nvPr>
        </p:nvSpPr>
        <p:spPr/>
        <p:txBody>
          <a:bodyPr/>
          <a:p/>
        </p:txBody>
      </p:sp>
      <p:sp>
        <p:nvSpPr>
          <p:cNvPr id="12" name="Text Placeholder 11"/>
          <p:cNvSpPr>
            <a:spLocks noGrp="1"/>
          </p:cNvSpPr>
          <p:nvPr>
            <p:ph type="body" idx="57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58" sz="quarter"/>
          </p:nvPr>
        </p:nvSpPr>
        <p:spPr/>
        <p:txBody>
          <a:bodyPr/>
          <a:lstStyle/>
          <a:p/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Future Outlook &amp;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