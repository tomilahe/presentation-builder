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15"/>
  </p:notesMasterIdLst>
  <p:handoutMasterIdLst>
    <p:handoutMasterId r:id="rId16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794500" cy="99314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25AB58-E51E-44C5-B02C-BD8DF00A92B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F204DF-3AC7-CD84-A580-42CB0D7C26C5}" name="Lisett Liblekas" initials="LL" userId="S::lisett.liblekas@icosagen.ee::30955120-5099-484a-b836-3f140e161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185" autoAdjust="0"/>
  </p:normalViewPr>
  <p:slideViewPr>
    <p:cSldViewPr snapToGrid="0" showGuides="1">
      <p:cViewPr varScale="1">
        <p:scale>
          <a:sx n="127" d="100"/>
          <a:sy n="127" d="100"/>
        </p:scale>
        <p:origin x="504" y="192"/>
      </p:cViewPr>
      <p:guideLst>
        <p:guide orient="horz" pos="311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2" d="100"/>
          <a:sy n="72" d="100"/>
        </p:scale>
        <p:origin x="323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21" Type="http://schemas.microsoft.com/office/2018/10/relationships/authors" Target="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/>
              <a:t>Mean Detection Rates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Rate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Meta‑low</c:v>
                </c:pt>
                <c:pt idx="1">
                  <c:v>Meta‑high</c:v>
                </c:pt>
                <c:pt idx="2">
                  <c:v>Phone‑low</c:v>
                </c:pt>
                <c:pt idx="3">
                  <c:v>Phone‑high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</c:v>
                </c:pt>
                <c:pt idx="1">
                  <c:v>3</c:v>
                </c:pt>
                <c:pt idx="2">
                  <c:v>1.56</c:v>
                </c:pt>
                <c:pt idx="3">
                  <c:v>2.25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86-014F-BBFD-7F81D72FCD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0055F8-9372-67D1-EBB8-C972EC82E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560BA-7D99-0E25-A171-D617BC1DE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E486-8C34-4591-9819-77E47BAD6410}" type="datetimeFigureOut">
              <a:rPr lang="et-EE" smtClean="0"/>
              <a:t>13.05.26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F133-D8FF-263D-5129-6538C23B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A6E3A-74DF-A7FE-4898-8AB045D69F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A6C69-7FBF-48C9-B4D4-69C44EE5F55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6724666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44DDE24-1A3E-45B7-A194-D2823032C6FD}" type="datetimeFigureOut">
              <a:rPr lang="et-EE" smtClean="0"/>
              <a:pPr/>
              <a:t>13.05.26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15EF2FF-4C82-4708-AFCC-C30E5F69F591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6990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37B104-C24F-8091-9BD2-55652B1845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0853-10F1-A278-9266-2B2C627DD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5D3A2-031E-1B51-5E1E-FAC0466A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1850" y="5471974"/>
            <a:ext cx="1052195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1F5F4D-010A-9B4C-5DA6-8BE7D3E4FF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752921"/>
            <a:ext cx="1923014" cy="6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4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60460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red_high contra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BDD68A-1D9B-DC2E-36F4-CD58AC3B2B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172100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3826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5675ED-93F5-4F08-1A6E-59BDE0219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3" y="0"/>
            <a:ext cx="1218949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0969A-507F-D519-6A27-07B32086F6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32712" y="683491"/>
            <a:ext cx="5092851" cy="4708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FD6CE-01B6-D7EE-EA13-0626A1FC0E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33890" y="1767252"/>
            <a:ext cx="509284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67A92-D071-5CD9-18D7-3F6920C37F75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355655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F3F5-00B1-2050-F3E9-ED5696D0A35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B1AA9E-474F-9586-BC22-7DAFEEB04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A7CAD419-1F4F-0547-EB7B-AEAEBF266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E4F9B-A631-C887-452A-F8F9ECED4131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43274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478A47-4B62-2EC3-32B3-F7FF17A04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2199" y="1825625"/>
            <a:ext cx="5181599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A8CA80-B080-13B3-DBB2-F48DE856F0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00" y="6335713"/>
            <a:ext cx="5181600" cy="323850"/>
          </a:xfrm>
          <a:prstGeom prst="rect">
            <a:avLst/>
          </a:prstGeom>
        </p:spPr>
        <p:txBody>
          <a:bodyPr/>
          <a:lstStyle>
            <a:lvl1pPr>
              <a:defRPr sz="1200" b="0" i="1">
                <a:solidFill>
                  <a:schemeClr val="tx1"/>
                </a:solidFill>
              </a:defRPr>
            </a:lvl1pPr>
            <a:lvl2pPr>
              <a:defRPr sz="1000" i="1">
                <a:solidFill>
                  <a:schemeClr val="tx1"/>
                </a:solidFill>
              </a:defRPr>
            </a:lvl2pPr>
            <a:lvl3pPr>
              <a:defRPr sz="1000" i="1">
                <a:solidFill>
                  <a:schemeClr val="tx1"/>
                </a:solidFill>
              </a:defRPr>
            </a:lvl3pPr>
            <a:lvl4pPr>
              <a:defRPr sz="1000" i="1">
                <a:solidFill>
                  <a:schemeClr val="tx1"/>
                </a:solidFill>
              </a:defRPr>
            </a:lvl4pPr>
            <a:lvl5pPr>
              <a:defRPr sz="10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Pildi viide– “Calibri italic” või “Calibri light italic”. 10-13 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B7420-3439-A165-D94D-7109348CAFAA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68190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10FB0-7DF8-8E4C-C284-4D5A805E14B0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18841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10698018" cy="4351338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6E4EF-9FD2-7735-1722-6899D8127ACF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975786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6AB6E5-6483-8D04-20DD-CD342AF10E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2240" y="0"/>
            <a:ext cx="950976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8DF08D-0892-A83E-D60E-65F5CC43E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386820EE-E8A8-49A5-C13D-430E140197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905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DBD78A-DE19-2186-122E-268969E6A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35875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2ED430-87BE-FAC7-6866-207C22442F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37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BF780F6-D4BA-7DCB-A5CC-EE4806BF0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49C67D7-7752-BD97-2871-260540982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641" y="1730488"/>
            <a:ext cx="564980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A19316-7433-3663-9FB3-C546D6DE6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25990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FAD01-2823-82B9-F4E0-CBA5FFE44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092822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B42324-725D-2EB8-2C66-01ECAA6A2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1860" y="0"/>
            <a:ext cx="874014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24486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92FF81-03D6-589E-D4DF-3EE5CEAD7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986B6CD-EC6E-2659-75E6-E36B68C2C9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524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78D0A6-FDE3-D246-27F2-9F5F9F9E5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26323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acts_whi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2C05D-F7B0-3F4A-C55A-DBFFE0759B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721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40F2358-E719-4D8C-ECFC-CB3BBBA048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921" y="50561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E6DCDA9-930E-D7E6-7714-C885E262D8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892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659957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620950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848786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731986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731986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6E9984FE-859B-F235-FA0B-4A62DDD05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1486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5950CAD-20B8-F2DA-717A-139C78BCCAC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93" r:id="rId3"/>
    <p:sldLayoutId id="2147483670" r:id="rId4"/>
    <p:sldLayoutId id="2147483683" r:id="rId5"/>
    <p:sldLayoutId id="2147483688" r:id="rId6"/>
    <p:sldLayoutId id="2147483694" r:id="rId7"/>
    <p:sldLayoutId id="2147483691" r:id="rId8"/>
    <p:sldLayoutId id="2147483678" r:id="rId9"/>
    <p:sldLayoutId id="2147483680" r:id="rId10"/>
    <p:sldLayoutId id="2147483679" r:id="rId11"/>
    <p:sldLayoutId id="2147483696" r:id="rId12"/>
    <p:sldLayoutId id="2147483690" r:id="rId13"/>
    <p:sldLayoutId id="214748367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None/>
        <a:defRPr sz="2000" b="1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700" i="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Group 9 – Madis Vasser (Supervisor) – MA thesis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Meta Smart Glasses vs Smartphone: Inattentional Blindness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VR/MR enables ecological‑valid experiments while maintaining control.</a:t>
            </a:r>
          </a:p>
          <a:p>
            <a:r>
              <a:t>Inattentional blindness (IB) occurs when obvious stimuli go unnoticed.</a:t>
            </a:r>
          </a:p>
          <a:p>
            <a:r>
              <a:t>Smart glasses and smartphones may differ in how they place information (heads‑up display vs handheld screen).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t>How does a simulation of Meta smart glasses affect inattentional blindness compared to smartphone usage while walking?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t>Null hypothesis: No difference between devices or load.</a:t>
            </a:r>
          </a:p>
          <a:p>
            <a:r>
              <a:t>Alternative 1: Smart glasses increase IB more than smartphones.</a:t>
            </a:r>
          </a:p>
          <a:p>
            <a:r>
              <a:t>Alternative 2: Interaction – smart glasses + high cognitive load yields greatest IB.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Research Question &amp; Hypotheses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t>2 × 2 within‑subjects design (device × cognitive load).</a:t>
            </a:r>
          </a:p>
          <a:p>
            <a:r>
              <a:t>Four conditions: Meta‑low, Meta‑high, Phone‑low, Phone‑high.</a:t>
            </a:r>
          </a:p>
          <a:p>
            <a:r>
              <a:t>10 participants recruited; 2 excluded → N=8.</a:t>
            </a:r>
          </a:p>
          <a:p>
            <a:r>
              <a:t>Mixed Reality walking scenario using Meta Quest 3.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Methods – Design &amp; Participants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t>1. Briefing and practice session.</a:t>
            </a:r>
          </a:p>
          <a:p>
            <a:r>
              <a:t>2. Counterbalanced blocks (~2 min each).</a:t>
            </a:r>
          </a:p>
          <a:p>
            <a:r>
              <a:t>3. Walk L‑shaped corridor while interacting with device content.</a:t>
            </a:r>
          </a:p>
          <a:p>
            <a:r>
              <a:t>4. Detect unexpected objects and rate attention.</a:t>
            </a:r>
          </a:p>
          <a:p>
            <a:r>
              <a:t>5. Total session ~10‑20 min per participant.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Procedure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Mean detection rates (SD) per condition are shown in the table below.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Descriptive Statistics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7432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b="1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Meta‑low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0‑4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Meta‑high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0‑10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Phone‑low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0‑5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Phone‑high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0‑8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Repeated‑measures ANOVA showed no significant main effects (Device F=0.09, p=0.77; Load F=1.47, p=0.27) and no interaction (F=0.21, p=0.66).</a:t>
            </a:r>
          </a:p>
          <a:p>
            <a:r>
              <a:t>Wilcoxon signed‑rank tests for all pairwise comparisons were non‑significant (p &gt; 0.4).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Statistical Analysis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743200"/>
          <a:ext cx="10058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t>No reliable differences between Meta smart glasses and smartphone conditions.</a:t>
            </a:r>
          </a:p>
          <a:p>
            <a:r>
              <a:t>Both devices captured enough attention to produce low detection overall, aligning with classic IB literature.</a:t>
            </a:r>
          </a:p>
          <a:p>
            <a:r>
              <a:t>Small sample size and high variability limit statistical power.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Discussion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t>Limitations:</a:t>
            </a:r>
          </a:p>
          <a:p>
            <a:r>
              <a:t>- Small, homogeneous sample (N=8).</a:t>
            </a:r>
          </a:p>
          <a:p>
            <a:r>
              <a:t>- Short exposure per condition.</a:t>
            </a:r>
          </a:p>
          <a:p>
            <a:r>
              <a:t>- No objective eye‑tracking data.</a:t>
            </a:r>
          </a:p>
          <a:p>
            <a:r>
              <a:t>Future directions:</a:t>
            </a:r>
          </a:p>
          <a:p>
            <a:r>
              <a:t>- Larger, more diverse participant pool.</a:t>
            </a:r>
          </a:p>
          <a:p>
            <a:r>
              <a:t>- Refine cognitive‑load manipulation (e.g., reaction‑time tasks).</a:t>
            </a:r>
          </a:p>
          <a:p>
            <a:r>
              <a:t>- Test smart glasses in real‑world outdoor settings.</a:t>
            </a:r>
          </a:p>
          <a:p>
            <a:r>
              <a:t>- Explore interface design features that reduce IB.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Limitations &amp; Future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3"/>
          </p:nvPr>
        </p:nvSpPr>
        <p:spPr/>
        <p:txBody>
          <a:bodyPr>
            <a:normAutofit/>
          </a:bodyPr>
          <a:lstStyle/>
          <a:p>
            <a:r>
              <a:t>Appel et al., 2019 – Smartphone zombies!</a:t>
            </a:r>
          </a:p>
          <a:p>
            <a:r>
              <a:t>Hirschhorn, 2024 – VR inattentional blindness experiment</a:t>
            </a:r>
          </a:p>
          <a:p>
            <a:r>
              <a:t>Masters‑Waage et al., 2024 – Social inattentional blindness</a:t>
            </a:r>
          </a:p>
          <a:p>
            <a:r>
              <a:t>Simons &amp; Chabris, 1999 – Gorilla experiment</a:t>
            </a:r>
          </a:p>
          <a:p>
            <a:r>
              <a:t>Vasser &amp; Aru, 2020 – VR research guidelines</a:t>
            </a:r>
          </a:p>
          <a:p>
            <a:r>
              <a:t>Wolfe et al., 2022 – Normal blindness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53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References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3"/>
          </p:nvPr>
        </p:nvSpPr>
        <p:spPr/>
        <p:txBody>
          <a:bodyPr>
            <a:normAutofit/>
          </a:bodyPr>
          <a:lstStyle/>
          <a:p>
            <a:r>
              <a:t>Madis Vasser, PhD</a:t>
            </a:r>
          </a:p>
          <a:p>
            <a:r>
              <a:t>Email: madis.vasser@example.com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53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sagen">
      <a:dk1>
        <a:srgbClr val="363738"/>
      </a:dk1>
      <a:lt1>
        <a:srgbClr val="FFFFFF"/>
      </a:lt1>
      <a:dk2>
        <a:srgbClr val="6D6E71"/>
      </a:dk2>
      <a:lt2>
        <a:srgbClr val="FFFFFF"/>
      </a:lt2>
      <a:accent1>
        <a:srgbClr val="A71930"/>
      </a:accent1>
      <a:accent2>
        <a:srgbClr val="D52B1E"/>
      </a:accent2>
      <a:accent3>
        <a:srgbClr val="6D6E71"/>
      </a:accent3>
      <a:accent4>
        <a:srgbClr val="D1D3D4"/>
      </a:accent4>
      <a:accent5>
        <a:srgbClr val="468160"/>
      </a:accent5>
      <a:accent6>
        <a:srgbClr val="AD1125"/>
      </a:accent6>
      <a:hlink>
        <a:srgbClr val="FFFFFF"/>
      </a:hlink>
      <a:folHlink>
        <a:srgbClr val="FFFFFF"/>
      </a:folHlink>
    </a:clrScheme>
    <a:fontScheme name="Icosagen 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osagen slides template 2026" id="{AC2B8190-1A20-4844-A934-AB0C1BFF4827}" vid="{224A3D10-23FE-4862-9CC1-E26B608A80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2169F001A2F4B9C451C5841F744E4" ma:contentTypeVersion="13" ma:contentTypeDescription="Create a new document." ma:contentTypeScope="" ma:versionID="a230064bbda22ee7a9e873cec57c43a8">
  <xsd:schema xmlns:xsd="http://www.w3.org/2001/XMLSchema" xmlns:xs="http://www.w3.org/2001/XMLSchema" xmlns:p="http://schemas.microsoft.com/office/2006/metadata/properties" xmlns:ns2="69bb39e4-9e1d-40b2-a19b-595eaf90860b" xmlns:ns3="5da713d5-fe66-4fdc-bc3b-6ce8bac2bb49" targetNamespace="http://schemas.microsoft.com/office/2006/metadata/properties" ma:root="true" ma:fieldsID="2b21d18c70ef1a2833901cd15153dea6" ns2:_="" ns3:_="">
    <xsd:import namespace="69bb39e4-9e1d-40b2-a19b-595eaf90860b"/>
    <xsd:import namespace="5da713d5-fe66-4fdc-bc3b-6ce8bac2bb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b39e4-9e1d-40b2-a19b-595eaf9086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89c0410-f6d5-4bb2-946e-3672772a52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a713d5-fe66-4fdc-bc3b-6ce8bac2bb4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443559f-c804-4b7e-97e4-7d7cbc9e796f}" ma:internalName="TaxCatchAll" ma:showField="CatchAllData" ma:web="5da713d5-fe66-4fdc-bc3b-6ce8bac2bb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001416-DC15-4FDA-8C31-CD136E074A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bb39e4-9e1d-40b2-a19b-595eaf90860b"/>
    <ds:schemaRef ds:uri="5da713d5-fe66-4fdc-bc3b-6ce8bac2bb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1A3C03-C42B-4322-B9DC-62F802BF44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519</Words>
  <Application>Microsoft Macintosh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Meta Smart Glasses vs Smartphone: Inattentional Blindness Study</vt:lpstr>
      <vt:lpstr>Introduction</vt:lpstr>
      <vt:lpstr>Research Question &amp; Hypotheses</vt:lpstr>
      <vt:lpstr>Methods – Design &amp; Participants</vt:lpstr>
      <vt:lpstr>Procedure</vt:lpstr>
      <vt:lpstr>Descriptive Statistics</vt:lpstr>
      <vt:lpstr>Statistical Analysis</vt:lpstr>
      <vt:lpstr>Discussion</vt:lpstr>
      <vt:lpstr>Limitations &amp; Future Work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Lahe</dc:creator>
  <cp:lastModifiedBy>Tomi Lahe</cp:lastModifiedBy>
  <cp:revision>1</cp:revision>
  <cp:lastPrinted>2023-03-17T13:05:21Z</cp:lastPrinted>
  <dcterms:created xsi:type="dcterms:W3CDTF">2026-05-04T16:35:03Z</dcterms:created>
  <dcterms:modified xsi:type="dcterms:W3CDTF">2026-05-13T12:18:17Z</dcterms:modified>
</cp:coreProperties>
</file>