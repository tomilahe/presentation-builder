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3"/>
  </p:sldMasterIdLst>
  <p:notesMasterIdLst>
    <p:notesMasterId r:id="rId13"/>
  </p:notesMasterIdLst>
  <p:handoutMasterIdLst>
    <p:handoutMasterId r:id="rId14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794500" cy="9931400"/>
  <p:defaultTextStyle>
    <a:defPPr>
      <a:defRPr lang="et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C25AB58-E51E-44C5-B02C-BD8DF00A92B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113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FF204DF-3AC7-CD84-A580-42CB0D7C26C5}" name="Lisett Liblekas" initials="LL" userId="S::lisett.liblekas@icosagen.ee::30955120-5099-484a-b836-3f140e1611f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1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9" autoAdjust="0"/>
    <p:restoredTop sz="94185" autoAdjust="0"/>
  </p:normalViewPr>
  <p:slideViewPr>
    <p:cSldViewPr snapToGrid="0" showGuides="1">
      <p:cViewPr varScale="1">
        <p:scale>
          <a:sx n="127" d="100"/>
          <a:sy n="127" d="100"/>
        </p:scale>
        <p:origin x="504" y="192"/>
      </p:cViewPr>
      <p:guideLst>
        <p:guide orient="horz" pos="3113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2" d="100"/>
          <a:sy n="72" d="100"/>
        </p:scale>
        <p:origin x="323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microsoft.com/office/2018/10/relationships/authors" Target="author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C0055F8-9372-67D1-EBB8-C972EC82E7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A560BA-7D99-0E25-A171-D617BC1DEF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810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2E486-8C34-4591-9819-77E47BAD6410}" type="datetimeFigureOut">
              <a:rPr lang="et-EE" smtClean="0"/>
              <a:t>11.05.26</a:t>
            </a:fld>
            <a:endParaRPr lang="et-E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4EF133-D8FF-263D-5129-6538C23B10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2A6E3A-74DF-A7FE-4898-8AB045D69F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810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CA6C69-7FBF-48C9-B4D4-69C44EE5F551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67246664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8" userDrawn="1">
          <p15:clr>
            <a:srgbClr val="F26B43"/>
          </p15:clr>
        </p15:guide>
        <p15:guide id="2" pos="214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t-EE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E44DDE24-1A3E-45B7-A194-D2823032C6FD}" type="datetimeFigureOut">
              <a:rPr lang="et-EE" smtClean="0"/>
              <a:pPr/>
              <a:t>11.05.26</a:t>
            </a:fld>
            <a:endParaRPr lang="et-EE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t-E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486"/>
            <a:ext cx="5435600" cy="3910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t-E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t-E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015EF2FF-4C82-4708-AFCC-C30E5F69F591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169909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TITLE_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37B104-C24F-8091-9BD2-55652B1845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60853-10F1-A278-9266-2B2C627DD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6666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5D3A2-031E-1B51-5E1E-FAC0466AC7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t-EE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7F977D9-DCA1-0113-A323-9371CA04E1C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31850" y="5471974"/>
            <a:ext cx="10521950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098441"/>
            <a:ext cx="10515600" cy="75713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Põhi-pealkiri</a:t>
            </a:r>
            <a:r>
              <a:rPr lang="en-US" dirty="0"/>
              <a:t>: Calibri 48</a:t>
            </a:r>
            <a:endParaRPr lang="et-EE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A1F5F4D-010A-9B4C-5DA6-8BE7D3E4FF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850" y="752921"/>
            <a:ext cx="1923014" cy="68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9459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TITLE_r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A45C9BCC-0272-BD8E-9A42-AB7F9BE305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918" y="746540"/>
            <a:ext cx="1948696" cy="71070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5C0AD-8ACE-4F6D-E2AF-6C7E02AF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t-EE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67303CA-3ADD-7E6D-0D14-D0FDD311B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6666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245364C-4B93-3729-4E6B-677159E5381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9918" y="5471974"/>
            <a:ext cx="10523882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2E750D-F7AB-AB3A-CDC4-C0C420A8D2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098441"/>
            <a:ext cx="10515600" cy="75713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Põhi-pealkiri</a:t>
            </a:r>
            <a:r>
              <a:rPr lang="en-US" dirty="0"/>
              <a:t>: Calibri 48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604601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_red_high contra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BDD68A-1D9B-DC2E-36F4-CD58AC3B2B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45C9BCC-0272-BD8E-9A42-AB7F9BE305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918" y="746540"/>
            <a:ext cx="1948696" cy="71070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5C0AD-8ACE-4F6D-E2AF-6C7E02AF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t-EE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67303CA-3ADD-7E6D-0D14-D0FDD311B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6666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245364C-4B93-3729-4E6B-677159E5381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9918" y="5471974"/>
            <a:ext cx="10523882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2E750D-F7AB-AB3A-CDC4-C0C420A8D2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172100"/>
            <a:ext cx="10515600" cy="75713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Põhi-pealkiri</a:t>
            </a:r>
            <a:r>
              <a:rPr lang="en-US" dirty="0"/>
              <a:t>: Calibri 48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382673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95675ED-93F5-4F08-1A6E-59BDE02194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53" y="0"/>
            <a:ext cx="1218949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70969A-507F-D519-6A27-07B32086F68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32712" y="683491"/>
            <a:ext cx="5092851" cy="47089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sz="3400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FD6CE-01B6-D7EE-EA13-0626A1FC0ED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33890" y="1767252"/>
            <a:ext cx="5092849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667A92-D071-5CD9-18D7-3F6920C37F75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3556551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  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5364018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2F3F5-00B1-2050-F3E9-ED5696D0A35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FB1AA9E-474F-9586-BC22-7DAFEEB04D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6" name="Title 7">
            <a:extLst>
              <a:ext uri="{FF2B5EF4-FFF2-40B4-BE49-F238E27FC236}">
                <a16:creationId xmlns:a16="http://schemas.microsoft.com/office/drawing/2014/main" id="{A7CAD419-1F4F-0547-EB7B-AEAEBF2663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2E4F9B-A631-C887-452A-F8F9ECED4131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4327461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lumn+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  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5364018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A478A47-4B62-2EC3-32B3-F7FF17A042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72199" y="1825625"/>
            <a:ext cx="5181599" cy="435133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2CDA5E3D-D86E-8B54-2053-EC080ADBE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FA8CA80-B080-13B3-DBB2-F48DE856F0A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72200" y="6335713"/>
            <a:ext cx="5181600" cy="323850"/>
          </a:xfrm>
          <a:prstGeom prst="rect">
            <a:avLst/>
          </a:prstGeom>
        </p:spPr>
        <p:txBody>
          <a:bodyPr/>
          <a:lstStyle>
            <a:lvl1pPr>
              <a:defRPr sz="1200" b="0" i="1">
                <a:solidFill>
                  <a:schemeClr val="tx1"/>
                </a:solidFill>
              </a:defRPr>
            </a:lvl1pPr>
            <a:lvl2pPr>
              <a:defRPr sz="1000" i="1">
                <a:solidFill>
                  <a:schemeClr val="tx1"/>
                </a:solidFill>
              </a:defRPr>
            </a:lvl2pPr>
            <a:lvl3pPr>
              <a:defRPr sz="1000" i="1">
                <a:solidFill>
                  <a:schemeClr val="tx1"/>
                </a:solidFill>
              </a:defRPr>
            </a:lvl3pPr>
            <a:lvl4pPr>
              <a:defRPr sz="1000" i="1">
                <a:solidFill>
                  <a:schemeClr val="tx1"/>
                </a:solidFill>
              </a:defRPr>
            </a:lvl4pPr>
            <a:lvl5pPr>
              <a:defRPr sz="1000" i="1">
                <a:solidFill>
                  <a:schemeClr val="tx1"/>
                </a:solidFill>
              </a:defRPr>
            </a:lvl5pPr>
          </a:lstStyle>
          <a:p>
            <a:pPr lvl="0"/>
            <a:r>
              <a:rPr lang="it-IT" dirty="0"/>
              <a:t>Pildi viide– “Calibri italic” või “Calibri light italic”. 10-13 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EB7420-3439-A165-D94D-7109348CAFAA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681904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_column+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  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5364018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2CDA5E3D-D86E-8B54-2053-EC080ADBE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310FB0-7DF8-8E4C-C284-4D5A805E14B0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188418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textbox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  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10698018" cy="4351338"/>
          </a:xfrm>
          <a:prstGeom prst="rect">
            <a:avLst/>
          </a:prstGeom>
        </p:spPr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 sz="280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2CDA5E3D-D86E-8B54-2053-EC080ADBE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36E4EF-9FD2-7735-1722-6899D8127ACF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9757868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6AB6E5-6483-8D04-20DD-CD342AF10E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82240" y="0"/>
            <a:ext cx="950976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B8DF08D-0892-A83E-D60E-65F5CC43E1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386820EE-E8A8-49A5-C13D-430E140197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9055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DBD78A-DE19-2186-122E-268969E6A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8358750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2ED430-87BE-FAC7-6866-207C22442F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372600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0BF780F6-D4BA-7DCB-A5CC-EE4806BF01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049C67D7-7752-BD97-2871-260540982E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97641" y="1730488"/>
            <a:ext cx="5649809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0A19316-7433-3663-9FB3-C546D6DE6F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825990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BFAD01-2823-82B9-F4E0-CBA5FFE440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386ACA0-7695-36E1-7552-3AF971CD40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DDF3696-551A-7EC2-4489-43BAFEC4A3D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8039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0928226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B42324-725D-2EB8-2C66-01ECAA6A29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51860" y="0"/>
            <a:ext cx="874014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386ACA0-7695-36E1-7552-3AF971CD40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DDF3696-551A-7EC2-4489-43BAFEC4A3D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8039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244868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F92FF81-03D6-589E-D4DF-3EE5CEAD74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386ACA0-7695-36E1-7552-3AF971CD40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0986B6CD-EC6E-2659-75E6-E36B68C2C95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5245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078D0A6-FDE3-D246-27F2-9F5F9F9E56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263238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contacts_whit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  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4C2C05D-F7B0-3F4A-C55A-DBFFE0759B0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721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140F2358-E719-4D8C-ECFC-CB3BBBA048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8921" y="50561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7E6DCDA9-930E-D7E6-7714-C885E262D86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8921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78" name="Picture Placeholder 8">
            <a:extLst>
              <a:ext uri="{FF2B5EF4-FFF2-40B4-BE49-F238E27FC236}">
                <a16:creationId xmlns:a16="http://schemas.microsoft.com/office/drawing/2014/main" id="{0ABC76DC-5869-49CD-D6B5-B6337F6FFF7A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3776757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80" name="Text Placeholder 33">
            <a:extLst>
              <a:ext uri="{FF2B5EF4-FFF2-40B4-BE49-F238E27FC236}">
                <a16:creationId xmlns:a16="http://schemas.microsoft.com/office/drawing/2014/main" id="{B56A3713-6C26-EA28-6980-1929BBE3C34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3659957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1" name="Text Placeholder 60">
            <a:extLst>
              <a:ext uri="{FF2B5EF4-FFF2-40B4-BE49-F238E27FC236}">
                <a16:creationId xmlns:a16="http://schemas.microsoft.com/office/drawing/2014/main" id="{8AA2532C-50EF-F833-1900-40C41C64D80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659957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88" name="Picture Placeholder 8">
            <a:extLst>
              <a:ext uri="{FF2B5EF4-FFF2-40B4-BE49-F238E27FC236}">
                <a16:creationId xmlns:a16="http://schemas.microsoft.com/office/drawing/2014/main" id="{92764AE8-30EC-BFBC-1026-AA1B7B5663FD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737750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90" name="Text Placeholder 33">
            <a:extLst>
              <a:ext uri="{FF2B5EF4-FFF2-40B4-BE49-F238E27FC236}">
                <a16:creationId xmlns:a16="http://schemas.microsoft.com/office/drawing/2014/main" id="{87831BCD-2CC3-BDA7-FF47-5C030AE3C1D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620950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1" name="Text Placeholder 60">
            <a:extLst>
              <a:ext uri="{FF2B5EF4-FFF2-40B4-BE49-F238E27FC236}">
                <a16:creationId xmlns:a16="http://schemas.microsoft.com/office/drawing/2014/main" id="{7819BA3A-95FC-3CDA-EBCE-8E4E777F7543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620950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92" name="Picture Placeholder 8">
            <a:extLst>
              <a:ext uri="{FF2B5EF4-FFF2-40B4-BE49-F238E27FC236}">
                <a16:creationId xmlns:a16="http://schemas.microsoft.com/office/drawing/2014/main" id="{FB1772AE-CC89-C24A-94BA-8CFBB8AD1C7D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848786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94" name="Text Placeholder 33">
            <a:extLst>
              <a:ext uri="{FF2B5EF4-FFF2-40B4-BE49-F238E27FC236}">
                <a16:creationId xmlns:a16="http://schemas.microsoft.com/office/drawing/2014/main" id="{DEC578C4-C5AA-6E3C-9F30-993758121223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9731986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5" name="Text Placeholder 60">
            <a:extLst>
              <a:ext uri="{FF2B5EF4-FFF2-40B4-BE49-F238E27FC236}">
                <a16:creationId xmlns:a16="http://schemas.microsoft.com/office/drawing/2014/main" id="{1E40FADD-478F-39FD-85E3-A2E55DA07DF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731986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2" name="Title 16">
            <a:extLst>
              <a:ext uri="{FF2B5EF4-FFF2-40B4-BE49-F238E27FC236}">
                <a16:creationId xmlns:a16="http://schemas.microsoft.com/office/drawing/2014/main" id="{6E9984FE-859B-F235-FA0B-4A62DDD05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6518" y="1373248"/>
            <a:ext cx="11598965" cy="72220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114863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5950CAD-20B8-F2DA-717A-139C78BCCACE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29918" y="746540"/>
            <a:ext cx="1948696" cy="71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854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8" r:id="rId2"/>
    <p:sldLayoutId id="2147483693" r:id="rId3"/>
    <p:sldLayoutId id="2147483670" r:id="rId4"/>
    <p:sldLayoutId id="2147483683" r:id="rId5"/>
    <p:sldLayoutId id="2147483688" r:id="rId6"/>
    <p:sldLayoutId id="2147483694" r:id="rId7"/>
    <p:sldLayoutId id="2147483691" r:id="rId8"/>
    <p:sldLayoutId id="2147483678" r:id="rId9"/>
    <p:sldLayoutId id="2147483680" r:id="rId10"/>
    <p:sldLayoutId id="2147483679" r:id="rId11"/>
    <p:sldLayoutId id="2147483696" r:id="rId12"/>
    <p:sldLayoutId id="2147483690" r:id="rId13"/>
    <p:sldLayoutId id="2147483671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bg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None/>
        <a:defRPr sz="2000" b="1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700" i="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t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32712" y="300000"/>
            <a:ext cx="5092851" cy="1400000"/>
          </a:xfrm>
        </p:spPr>
        <p:txBody>
          <a:bodyPr wrap="square" lIns="91440" tIns="45720" rIns="91440" bIns="45720" anchor="t">
            <a:normAutofit/>
          </a:bodyPr>
          <a:lstStyle/>
          <a:p>
            <a:r>
              <a:rPr lang="en-US" sz="2800" b="1"/>
              <a:t>Blinded by Distraction</a:t>
            </a:r>
          </a:p>
          <a:p>
            <a:r>
              <a:rPr lang="en-US" sz="2000" b="1"/>
              <a:t>How Smart Glasses and Cognitive Load</a:t>
            </a:r>
          </a:p>
          <a:p>
            <a:r>
              <a:rPr lang="en-US" sz="2000" b="1"/>
              <a:t>Influence Inattentional Blindness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32712" y="1850000"/>
            <a:ext cx="5092849" cy="1200000"/>
          </a:xfrm>
        </p:spPr>
        <p:txBody>
          <a:bodyPr/>
          <a:lstStyle/>
          <a:p>
            <a:r>
              <a:rPr lang="en-US"/>
              <a:t>Marika Adson, Annabel Agasild, Karen Roht, Tomi Lahe, Ann Marleen Varul</a:t>
            </a:r>
          </a:p>
          <a:p>
            <a:r>
              <a:rPr lang="en-US"/>
              <a:t>Supervisor: Madis Vasser, PhD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/>
              <a:t>Background &amp; Motivation</a:t>
            </a:r>
          </a:p>
        </p:txBody>
      </p:sp>
      <p:sp>
        <p:nvSpPr>
          <p:cNvPr id="3" name="Body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/>
              <a:t>What is Inattentional Blindness (IB)?</a:t>
            </a:r>
          </a:p>
          <a:p>
            <a:r>
              <a:rPr lang="en-US" sz="1600"/>
              <a:t>Failing to consciously notice an obviously present stimulus while attention is focused elsewhere (Simons &amp; Chabris, 1999)</a:t>
            </a:r>
          </a:p>
          <a:p>
            <a:endParaRPr lang="en-US" sz="1600"/>
          </a:p>
          <a:p>
            <a:r>
              <a:rPr lang="en-US" sz="1800" b="1"/>
              <a:t>The Problem with Existing Paradigms</a:t>
            </a:r>
          </a:p>
          <a:p>
            <a:r>
              <a:rPr lang="en-US" sz="1600"/>
              <a:t>Most IB research uses screen-based tasks with limited ecological validity</a:t>
            </a:r>
          </a:p>
          <a:p>
            <a:r>
              <a:rPr lang="en-US" sz="1600"/>
              <a:t>Smartphone use while walking reduces environmental awareness (Appel et al., 2019)</a:t>
            </a:r>
          </a:p>
          <a:p>
            <a:r>
              <a:rPr lang="en-US" sz="1600"/>
              <a:t>Failures of awareness are a general product of our visual system (Wolfe et al., 2022)</a:t>
            </a:r>
          </a:p>
          <a:p>
            <a:endParaRPr lang="en-US" sz="1600"/>
          </a:p>
          <a:p>
            <a:r>
              <a:rPr lang="en-US" sz="1800" b="1"/>
              <a:t>Research Question</a:t>
            </a:r>
          </a:p>
          <a:p>
            <a:r>
              <a:rPr lang="en-US" sz="1600"/>
              <a:t>How does simulated Meta smart glasses usage affect inattentional blindness compared to smartphone use while walking?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/>
              <a:t>Study Design</a:t>
            </a:r>
          </a:p>
        </p:txBody>
      </p:sp>
      <p:sp>
        <p:nvSpPr>
          <p:cNvPr id="3" name="Body Lef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/>
              <a:t>2x2 Within-Subjects Design</a:t>
            </a:r>
          </a:p>
          <a:p>
            <a:r>
              <a:rPr lang="en-US" sz="1600"/>
              <a:t>Device: Simulated Meta smart glasses vs Smartphone</a:t>
            </a:r>
          </a:p>
          <a:p>
            <a:r>
              <a:rPr lang="en-US" sz="1600"/>
              <a:t>Cognitive Load: Low vs High</a:t>
            </a:r>
          </a:p>
          <a:p>
            <a:r>
              <a:rPr lang="en-US" sz="1600"/>
              <a:t>Each participant completed all 4 conditions (counterbalanced)</a:t>
            </a:r>
          </a:p>
          <a:p>
            <a:endParaRPr lang="en-US" sz="1600"/>
          </a:p>
          <a:p>
            <a:r>
              <a:rPr lang="en-US" sz="1800" b="1"/>
              <a:t>Hypotheses</a:t>
            </a:r>
          </a:p>
          <a:p>
            <a:r>
              <a:rPr lang="en-US" sz="1600"/>
              <a:t>H0: No significant differences between conditions</a:t>
            </a:r>
          </a:p>
          <a:p>
            <a:r>
              <a:rPr lang="en-US" sz="1600"/>
              <a:t>H1: Smart glasses increase IB more than smartphones</a:t>
            </a:r>
          </a:p>
          <a:p>
            <a:r>
              <a:rPr lang="en-US" sz="1600"/>
              <a:t>H2: Smart glasses + high load produces the greatest IB</a:t>
            </a:r>
          </a:p>
        </p:txBody>
      </p:sp>
      <p:sp>
        <p:nvSpPr>
          <p:cNvPr id="4" name="Body Right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r>
              <a:rPr lang="en-US" sz="1800" b="1"/>
              <a:t>Procedure</a:t>
            </a:r>
          </a:p>
          <a:p>
            <a:r>
              <a:rPr lang="en-US" sz="1600"/>
              <a:t>Meta Quest 3 headset with Mixed Reality in Unreal Engine</a:t>
            </a:r>
          </a:p>
          <a:p>
            <a:r>
              <a:rPr lang="en-US" sz="1600"/>
              <a:t>L-shaped corridor walk in Delta building, University of Tartu</a:t>
            </a:r>
          </a:p>
          <a:p>
            <a:r>
              <a:rPr lang="en-US" sz="1600"/>
              <a:t>4 experimental blocks (~2 min each) with short breaks</a:t>
            </a:r>
          </a:p>
          <a:p>
            <a:r>
              <a:rPr lang="en-US" sz="1600"/>
              <a:t>Total session: 10-20 minutes per participant</a:t>
            </a:r>
          </a:p>
          <a:p>
            <a:endParaRPr lang="en-US" sz="1600"/>
          </a:p>
          <a:p>
            <a:r>
              <a:rPr lang="en-US" sz="1800" b="1"/>
              <a:t>Cognitive Load Manipulation</a:t>
            </a:r>
          </a:p>
          <a:p>
            <a:r>
              <a:rPr lang="en-US" sz="1600"/>
              <a:t>Low: Simple, infrequent content (cat video)</a:t>
            </a:r>
          </a:p>
          <a:p>
            <a:r>
              <a:rPr lang="en-US" sz="1600"/>
              <a:t>High: Frequent complex stimuli, message pop-ups, ads, parallel videos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/>
              <a:t>Methods</a:t>
            </a:r>
          </a:p>
        </p:txBody>
      </p:sp>
      <p:sp>
        <p:nvSpPr>
          <p:cNvPr id="3" name="Body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/>
              <a:t>Participants</a:t>
            </a:r>
          </a:p>
          <a:p>
            <a:r>
              <a:rPr lang="en-US" sz="1400"/>
              <a:t>10 participants recruited; 8 included in final analysis (N=8)</a:t>
            </a:r>
          </a:p>
          <a:p>
            <a:r>
              <a:rPr lang="en-US" sz="1400"/>
              <a:t>2 excluded due to a procedural issue (4 target objects removed by cleaners)</a:t>
            </a:r>
          </a:p>
          <a:p>
            <a:r>
              <a:rPr lang="en-US" sz="1800" b="1"/>
              <a:t>Target Stimuli</a:t>
            </a:r>
          </a:p>
          <a:p>
            <a:r>
              <a:rPr lang="en-US" sz="1400"/>
              <a:t>Red Bull cans and books placed in unusual corridor locations</a:t>
            </a:r>
          </a:p>
          <a:p>
            <a:r>
              <a:rPr lang="en-US" sz="1400"/>
              <a:t>10 objects per 2 blocks; locations fixed but objects switched midway</a:t>
            </a:r>
          </a:p>
          <a:p>
            <a:r>
              <a:rPr lang="en-US" sz="1800" b="1"/>
              <a:t>Dependent Variables</a:t>
            </a:r>
          </a:p>
          <a:p>
            <a:r>
              <a:rPr lang="en-US" sz="1400"/>
              <a:t>Detection rate: number of target objects noticed per block</a:t>
            </a:r>
          </a:p>
          <a:p>
            <a:r>
              <a:rPr lang="en-US" sz="1400"/>
              <a:t>Attention rating: Likert scale 1-5 after each block</a:t>
            </a:r>
          </a:p>
          <a:p>
            <a:r>
              <a:rPr lang="en-US" sz="1800" b="1"/>
              <a:t>Analysis</a:t>
            </a:r>
          </a:p>
          <a:p>
            <a:r>
              <a:rPr lang="en-US" sz="1400"/>
              <a:t>Repeated-measures ANOVA, Wilcoxon signed-rank tests, Spearman correlations; Python and 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/>
              <a:t>Results: Detection Rates</a:t>
            </a:r>
          </a:p>
        </p:txBody>
      </p:sp>
      <p:sp>
        <p:nvSpPr>
          <p:cNvPr id="3" name="Body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/>
              <a:t>Detection Rates by Condition (out of 10 objects)</a:t>
            </a:r>
          </a:p>
          <a:p>
            <a:r>
              <a:rPr lang="en-US" sz="1600"/>
              <a:t>Meta-Low:   Mean 1.50  |  SD 1.69  |  Range 0-4</a:t>
            </a:r>
          </a:p>
          <a:p>
            <a:r>
              <a:rPr lang="en-US" sz="1600"/>
              <a:t>Meta-High:  Mean 3.00  |  SD 3.70  |  Range 0-10</a:t>
            </a:r>
          </a:p>
          <a:p>
            <a:r>
              <a:rPr lang="en-US" sz="1600"/>
              <a:t>Phone-Low:  Mean 1.56  |  SD 1.99  |  Range 0-5</a:t>
            </a:r>
          </a:p>
          <a:p>
            <a:r>
              <a:rPr lang="en-US" sz="1600"/>
              <a:t>Phone-High: Mean 2.25  |  SD 2.92  |  Range 0-8</a:t>
            </a:r>
          </a:p>
          <a:p>
            <a:endParaRPr lang="en-US" sz="1600"/>
          </a:p>
          <a:p>
            <a:r>
              <a:rPr lang="en-US" sz="1800" b="1"/>
              <a:t>Repeated-Measures ANOVA</a:t>
            </a:r>
          </a:p>
          <a:p>
            <a:r>
              <a:rPr lang="en-US" sz="1600"/>
              <a:t>Device effect: F = 0.09, p = 0.77 (not significant)</a:t>
            </a:r>
          </a:p>
          <a:p>
            <a:r>
              <a:rPr lang="en-US" sz="1600"/>
              <a:t>Load effect:   F = 1.47, p = 0.27 (not significant)</a:t>
            </a:r>
          </a:p>
          <a:p>
            <a:r>
              <a:rPr lang="en-US" sz="1600"/>
              <a:t>Interaction:   F = 0.21, p = 0.66 (not significant)</a:t>
            </a:r>
          </a:p>
          <a:p>
            <a:endParaRPr lang="en-US" sz="1600"/>
          </a:p>
          <a:p>
            <a:r>
              <a:rPr lang="en-US" sz="1600"/>
              <a:t>Detection rates were consistently low across all conditions with high variability between participants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/>
              <a:t>Results: Statistical Analysis</a:t>
            </a:r>
          </a:p>
        </p:txBody>
      </p:sp>
      <p:sp>
        <p:nvSpPr>
          <p:cNvPr id="3" name="Body Lef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/>
              <a:t>Wilcoxon Signed-Rank Tests</a:t>
            </a:r>
          </a:p>
          <a:p>
            <a:r>
              <a:rPr lang="en-US" sz="1600"/>
              <a:t>Load within Meta (high vs low): W=9.0, p=0.422</a:t>
            </a:r>
          </a:p>
          <a:p>
            <a:r>
              <a:rPr lang="en-US" sz="1600"/>
              <a:t>Load within Phone (high vs low): W=4.0, p=0.500</a:t>
            </a:r>
          </a:p>
          <a:p>
            <a:r>
              <a:rPr lang="en-US" sz="1600"/>
              <a:t>Device under high load: W=12.0, p=0.780</a:t>
            </a:r>
          </a:p>
          <a:p>
            <a:r>
              <a:rPr lang="en-US" sz="1600"/>
              <a:t>Device under low load: W=10.0, p=1.000</a:t>
            </a:r>
          </a:p>
          <a:p>
            <a:endParaRPr lang="en-US" sz="1600"/>
          </a:p>
          <a:p>
            <a:r>
              <a:rPr lang="en-US" sz="1600"/>
              <a:t>All pairwise comparisons non-significant</a:t>
            </a:r>
          </a:p>
        </p:txBody>
      </p:sp>
      <p:sp>
        <p:nvSpPr>
          <p:cNvPr id="4" name="Body Right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r>
              <a:rPr lang="en-US" sz="1800" b="1"/>
              <a:t>Spearman Correlations</a:t>
            </a:r>
          </a:p>
          <a:p>
            <a:r>
              <a:rPr lang="en-US" sz="1600"/>
              <a:t>Detection rate vs attention (Smartphone, high load): r=-0.146, p=0.73</a:t>
            </a:r>
          </a:p>
          <a:p>
            <a:r>
              <a:rPr lang="en-US" sz="1600"/>
              <a:t>Detection rate vs attention (Smartphone, low load): r=-0.303, p=0.47</a:t>
            </a:r>
          </a:p>
          <a:p>
            <a:r>
              <a:rPr lang="en-US" sz="1600"/>
              <a:t>Detection rate vs attention (Meta, high load): r=-0.190, p=0.65</a:t>
            </a:r>
          </a:p>
          <a:p>
            <a:r>
              <a:rPr lang="en-US" sz="1600"/>
              <a:t>Detection rate vs attention (Meta, low load): r=-0.331, p=0.42</a:t>
            </a:r>
          </a:p>
          <a:p>
            <a:endParaRPr lang="en-US" sz="1600"/>
          </a:p>
          <a:p>
            <a:r>
              <a:rPr lang="en-US" sz="1600"/>
              <a:t>No significant correlation between screen time and detection rate in any condition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/>
              <a:t>Discussion</a:t>
            </a:r>
          </a:p>
        </p:txBody>
      </p:sp>
      <p:sp>
        <p:nvSpPr>
          <p:cNvPr id="3" name="Body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/>
              <a:t>Null Hypothesis Supported</a:t>
            </a:r>
          </a:p>
          <a:p>
            <a:r>
              <a:rPr lang="en-US" sz="1400"/>
              <a:t>No significant difference between device type, cognitive load, or their interaction</a:t>
            </a:r>
          </a:p>
          <a:p>
            <a:r>
              <a:rPr lang="en-US" sz="1800" b="1"/>
              <a:t>Why No Effect Was Found</a:t>
            </a:r>
          </a:p>
          <a:p>
            <a:r>
              <a:rPr lang="en-US" sz="1400"/>
              <a:t>Both devices were sufficiently engaging to induce low detection rates across the board</a:t>
            </a:r>
          </a:p>
          <a:p>
            <a:r>
              <a:rPr lang="en-US" sz="1400"/>
              <a:t>IB driven by general task engagement, not specific device type</a:t>
            </a:r>
          </a:p>
          <a:p>
            <a:r>
              <a:rPr lang="en-US" sz="1400"/>
              <a:t>High individual variability obscured group-level effects</a:t>
            </a:r>
          </a:p>
          <a:p>
            <a:r>
              <a:rPr lang="en-US" sz="1400"/>
              <a:t>Small sample (N=8) limited statistical power</a:t>
            </a:r>
          </a:p>
          <a:p>
            <a:r>
              <a:rPr lang="en-US" sz="1800" b="1"/>
              <a:t>Applied Implications</a:t>
            </a:r>
          </a:p>
          <a:p>
            <a:r>
              <a:rPr lang="en-US" sz="1400"/>
              <a:t>Risk depends less on device label and more on interaction demands (frequency, content complexity)</a:t>
            </a:r>
          </a:p>
          <a:p>
            <a:r>
              <a:rPr lang="en-US" sz="1400"/>
              <a:t>Design for minimal attentional pull rather than device form factor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/>
              <a:t>Limitations &amp; Future Directions</a:t>
            </a:r>
          </a:p>
        </p:txBody>
      </p:sp>
      <p:sp>
        <p:nvSpPr>
          <p:cNvPr id="3" name="Body Lef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/>
              <a:t>Study Limitations</a:t>
            </a:r>
          </a:p>
          <a:p>
            <a:r>
              <a:rPr lang="en-US" sz="1600"/>
              <a:t>Very small sample (N=8) limits statistical power and generalizability</a:t>
            </a:r>
          </a:p>
          <a:p>
            <a:r>
              <a:rPr lang="en-US" sz="1600"/>
              <a:t>Phone videos in landscape mode did not replicate Instagram/Facebook Reels UI</a:t>
            </a:r>
          </a:p>
          <a:p>
            <a:r>
              <a:rPr lang="en-US" sz="1600"/>
              <a:t>Controlled corridor may not capture full ecological complexity</a:t>
            </a:r>
          </a:p>
          <a:p>
            <a:r>
              <a:rPr lang="en-US" sz="1600"/>
              <a:t>Procedural issue: cleaners removed 4 cans, requiring 2 participant exclusions</a:t>
            </a:r>
          </a:p>
          <a:p>
            <a:r>
              <a:rPr lang="en-US" sz="1600"/>
              <a:t>High variability (one outlier scored 10/10 in Meta-high condition)</a:t>
            </a:r>
          </a:p>
        </p:txBody>
      </p:sp>
      <p:sp>
        <p:nvSpPr>
          <p:cNvPr id="4" name="Body Right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r>
              <a:rPr lang="en-US" sz="1800" b="1"/>
              <a:t>Future Research</a:t>
            </a:r>
          </a:p>
          <a:p>
            <a:r>
              <a:rPr lang="en-US" sz="1600"/>
              <a:t>Larger, more diverse samples for reliable generalization</a:t>
            </a:r>
          </a:p>
          <a:p>
            <a:r>
              <a:rPr lang="en-US" sz="1600"/>
              <a:t>Add objective measures: eye-tracking, reaction times</a:t>
            </a:r>
          </a:p>
          <a:p>
            <a:r>
              <a:rPr lang="en-US" sz="1600"/>
              <a:t>Test in outdoor and higher-risk environments</a:t>
            </a:r>
          </a:p>
          <a:p>
            <a:r>
              <a:rPr lang="en-US" sz="1600"/>
              <a:t>Compare different HUD design features (notification placement, transparency)</a:t>
            </a:r>
          </a:p>
          <a:p>
            <a:r>
              <a:rPr lang="en-US" sz="1600"/>
              <a:t>Include a no-device baseline condition for reference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Conclusions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Both smart glasses and smartphones produced consistently low detection rates</a:t>
            </a:r>
          </a:p>
          <a:p>
            <a:r>
              <a:rPr lang="en-US"/>
              <a:t>Inattentional blindness is driven by attentional engagement, not device type</a:t>
            </a:r>
          </a:p>
          <a:p>
            <a:r>
              <a:rPr lang="en-US"/>
              <a:t>This Mixed Reality paradigm offers a promising foundation for future ecologically valid IB research</a:t>
            </a:r>
          </a:p>
          <a:p>
            <a:endParaRPr lang="en-US"/>
          </a:p>
          <a:p>
            <a:r>
              <a:rPr lang="en-US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cosagen">
      <a:dk1>
        <a:srgbClr val="363738"/>
      </a:dk1>
      <a:lt1>
        <a:srgbClr val="FFFFFF"/>
      </a:lt1>
      <a:dk2>
        <a:srgbClr val="6D6E71"/>
      </a:dk2>
      <a:lt2>
        <a:srgbClr val="FFFFFF"/>
      </a:lt2>
      <a:accent1>
        <a:srgbClr val="A71930"/>
      </a:accent1>
      <a:accent2>
        <a:srgbClr val="D52B1E"/>
      </a:accent2>
      <a:accent3>
        <a:srgbClr val="6D6E71"/>
      </a:accent3>
      <a:accent4>
        <a:srgbClr val="D1D3D4"/>
      </a:accent4>
      <a:accent5>
        <a:srgbClr val="468160"/>
      </a:accent5>
      <a:accent6>
        <a:srgbClr val="AD1125"/>
      </a:accent6>
      <a:hlink>
        <a:srgbClr val="FFFFFF"/>
      </a:hlink>
      <a:folHlink>
        <a:srgbClr val="FFFFFF"/>
      </a:folHlink>
    </a:clrScheme>
    <a:fontScheme name="Icosagen 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cosagen slides template 2026" id="{AC2B8190-1A20-4844-A934-AB0C1BFF4827}" vid="{224A3D10-23FE-4862-9CC1-E26B608A80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42169F001A2F4B9C451C5841F744E4" ma:contentTypeVersion="13" ma:contentTypeDescription="Create a new document." ma:contentTypeScope="" ma:versionID="a230064bbda22ee7a9e873cec57c43a8">
  <xsd:schema xmlns:xsd="http://www.w3.org/2001/XMLSchema" xmlns:xs="http://www.w3.org/2001/XMLSchema" xmlns:p="http://schemas.microsoft.com/office/2006/metadata/properties" xmlns:ns2="69bb39e4-9e1d-40b2-a19b-595eaf90860b" xmlns:ns3="5da713d5-fe66-4fdc-bc3b-6ce8bac2bb49" targetNamespace="http://schemas.microsoft.com/office/2006/metadata/properties" ma:root="true" ma:fieldsID="2b21d18c70ef1a2833901cd15153dea6" ns2:_="" ns3:_="">
    <xsd:import namespace="69bb39e4-9e1d-40b2-a19b-595eaf90860b"/>
    <xsd:import namespace="5da713d5-fe66-4fdc-bc3b-6ce8bac2bb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bb39e4-9e1d-40b2-a19b-595eaf9086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589c0410-f6d5-4bb2-946e-3672772a52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a713d5-fe66-4fdc-bc3b-6ce8bac2bb4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d443559f-c804-4b7e-97e4-7d7cbc9e796f}" ma:internalName="TaxCatchAll" ma:showField="CatchAllData" ma:web="5da713d5-fe66-4fdc-bc3b-6ce8bac2bb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001416-DC15-4FDA-8C31-CD136E074A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9bb39e4-9e1d-40b2-a19b-595eaf90860b"/>
    <ds:schemaRef ds:uri="5da713d5-fe66-4fdc-bc3b-6ce8bac2bb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A1A3C03-C42B-4322-B9DC-62F802BF44B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831</Words>
  <Application>Microsoft Macintosh PowerPoint</Application>
  <PresentationFormat>Widescreen</PresentationFormat>
  <Paragraphs>105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Calibri Light</vt:lpstr>
      <vt:lpstr>Arial</vt:lpstr>
      <vt:lpstr>Office Theme</vt:lpstr>
      <vt:lpstr>Blinded by Distraction How Smart Glasses and Cognitive Load Influence Inattentional Blindness</vt:lpstr>
      <vt:lpstr>Background &amp; Motivation</vt:lpstr>
      <vt:lpstr>Study Design</vt:lpstr>
      <vt:lpstr>Methods</vt:lpstr>
      <vt:lpstr>Results: Detection Rates</vt:lpstr>
      <vt:lpstr>Results: Statistical Analysis</vt:lpstr>
      <vt:lpstr>Discussion</vt:lpstr>
      <vt:lpstr>Limitations &amp; Future Directions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Tomi Lahe</dc:creator>
  <cp:lastModifiedBy>Tomi Lahe</cp:lastModifiedBy>
  <cp:revision>1</cp:revision>
  <cp:lastPrinted>2023-03-17T13:05:21Z</cp:lastPrinted>
  <dcterms:created xsi:type="dcterms:W3CDTF">2026-05-04T16:35:03Z</dcterms:created>
  <dcterms:modified xsi:type="dcterms:W3CDTF">2026-05-11T14:15:52Z</dcterms:modified>
</cp:coreProperties>
</file>