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3"/>
  </p:sldMasterIdLst>
  <p:notesMasterIdLst>
    <p:notesMasterId r:id="rId17"/>
  </p:notesMasterIdLst>
  <p:handoutMasterIdLst>
    <p:handoutMasterId r:id="rId18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794500" cy="9931400"/>
  <p:defaultTextStyle>
    <a:defPPr>
      <a:defRPr lang="et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25AB58-E51E-44C5-B02C-BD8DF00A92B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113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F204DF-3AC7-CD84-A580-42CB0D7C26C5}" name="Lisett Liblekas" initials="LL" userId="S::lisett.liblekas@icosagen.ee::30955120-5099-484a-b836-3f140e1611f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9" autoAdjust="0"/>
    <p:restoredTop sz="94185" autoAdjust="0"/>
  </p:normalViewPr>
  <p:slideViewPr>
    <p:cSldViewPr snapToGrid="0" showGuides="1">
      <p:cViewPr varScale="1">
        <p:scale>
          <a:sx n="127" d="100"/>
          <a:sy n="127" d="100"/>
        </p:scale>
        <p:origin x="504" y="192"/>
      </p:cViewPr>
      <p:guideLst>
        <p:guide orient="horz" pos="3113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2" d="100"/>
          <a:sy n="72" d="100"/>
        </p:scale>
        <p:origin x="323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1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microsoft.com/office/2018/10/relationships/authors" Target="authors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C0055F8-9372-67D1-EBB8-C972EC82E7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A560BA-7D99-0E25-A171-D617BC1DE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2E486-8C34-4591-9819-77E47BAD6410}" type="datetimeFigureOut">
              <a:rPr lang="et-EE" smtClean="0"/>
              <a:t>11.05.26</a:t>
            </a:fld>
            <a:endParaRPr lang="et-E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4EF133-D8FF-263D-5129-6538C23B10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A6E3A-74DF-A7FE-4898-8AB045D69F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CA6C69-7FBF-48C9-B4D4-69C44EE5F55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67246664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8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E44DDE24-1A3E-45B7-A194-D2823032C6FD}" type="datetimeFigureOut">
              <a:rPr lang="et-EE" smtClean="0"/>
              <a:pPr/>
              <a:t>11.05.26</a:t>
            </a:fld>
            <a:endParaRPr lang="et-E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t-E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015EF2FF-4C82-4708-AFCC-C30E5F69F591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169909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TITLE_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37B104-C24F-8091-9BD2-55652B1845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60853-10F1-A278-9266-2B2C627DD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5D3A2-031E-1B51-5E1E-FAC0466AC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7F977D9-DCA1-0113-A323-9371CA04E1C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1850" y="5471974"/>
            <a:ext cx="1052195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A1F5F4D-010A-9B4C-5DA6-8BE7D3E4FF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850" y="752921"/>
            <a:ext cx="1923014" cy="68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45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TITLE_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A45C9BCC-0272-BD8E-9A42-AB7F9BE305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5C0AD-8ACE-4F6D-E2AF-6C7E02AF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7303CA-3ADD-7E6D-0D14-D0FDD311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245364C-4B93-3729-4E6B-677159E5381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9918" y="5471974"/>
            <a:ext cx="1052388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2E750D-F7AB-AB3A-CDC4-C0C420A8D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604601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red_high contra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BDD68A-1D9B-DC2E-36F4-CD58AC3B2B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45C9BCC-0272-BD8E-9A42-AB7F9BE305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5C0AD-8ACE-4F6D-E2AF-6C7E02AF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7303CA-3ADD-7E6D-0D14-D0FDD311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245364C-4B93-3729-4E6B-677159E5381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9918" y="5471974"/>
            <a:ext cx="1052388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2E750D-F7AB-AB3A-CDC4-C0C420A8D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172100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382673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95675ED-93F5-4F08-1A6E-59BDE02194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53" y="0"/>
            <a:ext cx="1218949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70969A-507F-D519-6A27-07B32086F6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32712" y="683491"/>
            <a:ext cx="5092851" cy="4708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3400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FD6CE-01B6-D7EE-EA13-0626A1FC0E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33890" y="1767252"/>
            <a:ext cx="509284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67A92-D071-5CD9-18D7-3F6920C37F75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355655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2F3F5-00B1-2050-F3E9-ED5696D0A35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B1AA9E-474F-9586-BC22-7DAFEEB04D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6" name="Title 7">
            <a:extLst>
              <a:ext uri="{FF2B5EF4-FFF2-40B4-BE49-F238E27FC236}">
                <a16:creationId xmlns:a16="http://schemas.microsoft.com/office/drawing/2014/main" id="{A7CAD419-1F4F-0547-EB7B-AEAEBF2663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E4F9B-A631-C887-452A-F8F9ECED4131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432746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lumn+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A478A47-4B62-2EC3-32B3-F7FF17A042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2199" y="1825625"/>
            <a:ext cx="5181599" cy="43513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FA8CA80-B080-13B3-DBB2-F48DE856F0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72200" y="6335713"/>
            <a:ext cx="5181600" cy="323850"/>
          </a:xfrm>
          <a:prstGeom prst="rect">
            <a:avLst/>
          </a:prstGeom>
        </p:spPr>
        <p:txBody>
          <a:bodyPr/>
          <a:lstStyle>
            <a:lvl1pPr>
              <a:defRPr sz="1200" b="0" i="1">
                <a:solidFill>
                  <a:schemeClr val="tx1"/>
                </a:solidFill>
              </a:defRPr>
            </a:lvl1pPr>
            <a:lvl2pPr>
              <a:defRPr sz="1000" i="1">
                <a:solidFill>
                  <a:schemeClr val="tx1"/>
                </a:solidFill>
              </a:defRPr>
            </a:lvl2pPr>
            <a:lvl3pPr>
              <a:defRPr sz="1000" i="1">
                <a:solidFill>
                  <a:schemeClr val="tx1"/>
                </a:solidFill>
              </a:defRPr>
            </a:lvl3pPr>
            <a:lvl4pPr>
              <a:defRPr sz="1000" i="1">
                <a:solidFill>
                  <a:schemeClr val="tx1"/>
                </a:solidFill>
              </a:defRPr>
            </a:lvl4pPr>
            <a:lvl5pPr>
              <a:defRPr sz="10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it-IT" dirty="0"/>
              <a:t>Pildi viide– “Calibri italic” või “Calibri light italic”. 10-13 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EB7420-3439-A165-D94D-7109348CAFAA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681904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_column+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310FB0-7DF8-8E4C-C284-4D5A805E14B0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188418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bo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10698018" cy="4351338"/>
          </a:xfrm>
          <a:prstGeom prst="rect">
            <a:avLst/>
          </a:prstGeo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36E4EF-9FD2-7735-1722-6899D8127ACF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9757868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6AB6E5-6483-8D04-20DD-CD342AF10E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82240" y="0"/>
            <a:ext cx="950976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B8DF08D-0892-A83E-D60E-65F5CC43E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386820EE-E8A8-49A5-C13D-430E140197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9055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DBD78A-DE19-2186-122E-268969E6A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358750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2ED430-87BE-FAC7-6866-207C22442F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372600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BF780F6-D4BA-7DCB-A5CC-EE4806BF01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49C67D7-7752-BD97-2871-260540982E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7641" y="1730488"/>
            <a:ext cx="564980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A19316-7433-3663-9FB3-C546D6DE6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825990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BFAD01-2823-82B9-F4E0-CBA5FFE440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DDF3696-551A-7EC2-4489-43BAFEC4A3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8039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092822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B42324-725D-2EB8-2C66-01ECAA6A29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51860" y="0"/>
            <a:ext cx="874014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DDF3696-551A-7EC2-4489-43BAFEC4A3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8039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244868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92FF81-03D6-589E-D4DF-3EE5CEAD74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0986B6CD-EC6E-2659-75E6-E36B68C2C9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5245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78D0A6-FDE3-D246-27F2-9F5F9F9E56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263238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ontacts_whit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C2C05D-F7B0-3F4A-C55A-DBFFE0759B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721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140F2358-E719-4D8C-ECFC-CB3BBBA048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8921" y="50561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7E6DCDA9-930E-D7E6-7714-C885E262D86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8921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78" name="Picture Placeholder 8">
            <a:extLst>
              <a:ext uri="{FF2B5EF4-FFF2-40B4-BE49-F238E27FC236}">
                <a16:creationId xmlns:a16="http://schemas.microsoft.com/office/drawing/2014/main" id="{0ABC76DC-5869-49CD-D6B5-B6337F6FFF7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3776757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80" name="Text Placeholder 33">
            <a:extLst>
              <a:ext uri="{FF2B5EF4-FFF2-40B4-BE49-F238E27FC236}">
                <a16:creationId xmlns:a16="http://schemas.microsoft.com/office/drawing/2014/main" id="{B56A3713-6C26-EA28-6980-1929BBE3C34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3659957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1" name="Text Placeholder 60">
            <a:extLst>
              <a:ext uri="{FF2B5EF4-FFF2-40B4-BE49-F238E27FC236}">
                <a16:creationId xmlns:a16="http://schemas.microsoft.com/office/drawing/2014/main" id="{8AA2532C-50EF-F833-1900-40C41C64D80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659957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88" name="Picture Placeholder 8">
            <a:extLst>
              <a:ext uri="{FF2B5EF4-FFF2-40B4-BE49-F238E27FC236}">
                <a16:creationId xmlns:a16="http://schemas.microsoft.com/office/drawing/2014/main" id="{92764AE8-30EC-BFBC-1026-AA1B7B5663FD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737750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90" name="Text Placeholder 33">
            <a:extLst>
              <a:ext uri="{FF2B5EF4-FFF2-40B4-BE49-F238E27FC236}">
                <a16:creationId xmlns:a16="http://schemas.microsoft.com/office/drawing/2014/main" id="{87831BCD-2CC3-BDA7-FF47-5C030AE3C1D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620950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1" name="Text Placeholder 60">
            <a:extLst>
              <a:ext uri="{FF2B5EF4-FFF2-40B4-BE49-F238E27FC236}">
                <a16:creationId xmlns:a16="http://schemas.microsoft.com/office/drawing/2014/main" id="{7819BA3A-95FC-3CDA-EBCE-8E4E777F754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620950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92" name="Picture Placeholder 8">
            <a:extLst>
              <a:ext uri="{FF2B5EF4-FFF2-40B4-BE49-F238E27FC236}">
                <a16:creationId xmlns:a16="http://schemas.microsoft.com/office/drawing/2014/main" id="{FB1772AE-CC89-C24A-94BA-8CFBB8AD1C7D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848786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94" name="Text Placeholder 33">
            <a:extLst>
              <a:ext uri="{FF2B5EF4-FFF2-40B4-BE49-F238E27FC236}">
                <a16:creationId xmlns:a16="http://schemas.microsoft.com/office/drawing/2014/main" id="{DEC578C4-C5AA-6E3C-9F30-99375812122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9731986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5" name="Text Placeholder 60">
            <a:extLst>
              <a:ext uri="{FF2B5EF4-FFF2-40B4-BE49-F238E27FC236}">
                <a16:creationId xmlns:a16="http://schemas.microsoft.com/office/drawing/2014/main" id="{1E40FADD-478F-39FD-85E3-A2E55DA07D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731986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6E9984FE-859B-F235-FA0B-4A62DDD05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518" y="1373248"/>
            <a:ext cx="11598965" cy="72220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114863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5950CAD-20B8-F2DA-717A-139C78BCCACE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5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93" r:id="rId3"/>
    <p:sldLayoutId id="2147483670" r:id="rId4"/>
    <p:sldLayoutId id="2147483683" r:id="rId5"/>
    <p:sldLayoutId id="2147483688" r:id="rId6"/>
    <p:sldLayoutId id="2147483694" r:id="rId7"/>
    <p:sldLayoutId id="2147483691" r:id="rId8"/>
    <p:sldLayoutId id="2147483678" r:id="rId9"/>
    <p:sldLayoutId id="2147483680" r:id="rId10"/>
    <p:sldLayoutId id="2147483679" r:id="rId11"/>
    <p:sldLayoutId id="2147483696" r:id="rId12"/>
    <p:sldLayoutId id="2147483690" r:id="rId13"/>
    <p:sldLayoutId id="2147483671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None/>
        <a:defRPr sz="2000" b="1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700" i="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_subtitle"/>
          <p:cNvSpPr>
            <a:spLocks noGrp="1"/>
          </p:cNvSpPr>
          <p:nvPr>
            <p:ph type="body" idx="1"/>
          </p:nvPr>
        </p:nvSpPr>
        <p:spPr/>
        <p:txBody>
          <a:bodyPr wrap="square" lIns="27432" tIns="18288" rIns="27432" bIns="18288" anchor="t"/>
          <a:lstStyle/>
          <a:p>
            <a:pPr marL="0" indent="0" algn="l">
              <a:spcAft>
                <a:spcPts val="600"/>
              </a:spcAft>
              <a:buNone/>
            </a:pPr>
            <a:r>
              <a:rPr sz="1700" b="0">
                <a:solidFill>
                  <a:srgbClr val="FFFFFF"/>
                </a:solidFill>
                <a:latin typeface="Calibri"/>
              </a:rPr>
              <a:t>Study article presentation</a:t>
            </a:r>
          </a:p>
        </p:txBody>
      </p:sp>
      <p:sp>
        <p:nvSpPr>
          <p:cNvPr id="3" name="AUTO_source_title"/>
          <p:cNvSpPr>
            <a:spLocks noGrp="1"/>
          </p:cNvSpPr>
          <p:nvPr>
            <p:ph type="body" idx="13"/>
          </p:nvPr>
        </p:nvSpPr>
        <p:spPr/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sz="1300" b="0">
                <a:solidFill>
                  <a:srgbClr val="FFFFFF"/>
                </a:solidFill>
                <a:latin typeface="Calibri"/>
              </a:rPr>
              <a:t>Broadly neutralizing humanized antibody with conserved Spike epitope binding and inhalation-based protection in non-human primates</a:t>
            </a:r>
          </a:p>
        </p:txBody>
      </p:sp>
      <p:sp>
        <p:nvSpPr>
          <p:cNvPr id="4" name="AUTO_title"/>
          <p:cNvSpPr>
            <a:spLocks noGrp="1"/>
          </p:cNvSpPr>
          <p:nvPr>
            <p:ph type="title"/>
          </p:nvPr>
        </p:nvSpPr>
        <p:spPr/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3500" b="1">
                <a:solidFill>
                  <a:srgbClr val="FFFFFF"/>
                </a:solidFill>
                <a:latin typeface="Calibri"/>
              </a:rPr>
              <a:t>Inhaled ICO-hu104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sz="3500" b="1">
                <a:solidFill>
                  <a:srgbClr val="FFFFFF"/>
                </a:solidFill>
                <a:latin typeface="Calibri"/>
              </a:rPr>
              <a:t>for SARS-CoV-2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_core_message"/>
          <p:cNvSpPr>
            <a:spLocks noGrp="1"/>
          </p:cNvSpPr>
          <p:nvPr>
            <p:ph type="subTitle" idx="1"/>
          </p:nvPr>
        </p:nvSpPr>
        <p:spPr/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300" b="0">
                <a:solidFill>
                  <a:srgbClr val="262626"/>
                </a:solidFill>
                <a:latin typeface="Calibri"/>
              </a:rPr>
              <a:t>ICO-hu104 combines variant breadth with lung-focused delivery.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sz="2300" b="0">
                <a:solidFill>
                  <a:srgbClr val="262626"/>
                </a:solidFill>
                <a:latin typeface="Calibri"/>
              </a:rPr>
              <a:t>Nebulization preserved antibody function, achieved high lower-airway exposure, and reduced SARS-CoV-2 replication after therapeutic dosing in macaques.</a:t>
            </a:r>
          </a:p>
        </p:txBody>
      </p:sp>
      <p:sp>
        <p:nvSpPr>
          <p:cNvPr id="3" name="AUTO_title"/>
          <p:cNvSpPr>
            <a:spLocks noGrp="1"/>
          </p:cNvSpPr>
          <p:nvPr>
            <p:ph type="title"/>
          </p:nvPr>
        </p:nvSpPr>
        <p:spPr/>
        <p:txBody>
          <a:bodyPr wrap="square" lIns="27432" tIns="18288" rIns="27432" bIns="18288" anchor="t"/>
          <a:lstStyle/>
          <a:p>
            <a:pPr marL="0" indent="0" algn="l">
              <a:spcAft>
                <a:spcPts val="600"/>
              </a:spcAft>
              <a:buNone/>
            </a:pPr>
            <a:r>
              <a:rPr sz="3200" b="1">
                <a:solidFill>
                  <a:srgbClr val="262626"/>
                </a:solidFill>
                <a:latin typeface="Calibri"/>
              </a:rPr>
              <a:t>Core message</a:t>
            </a:r>
          </a:p>
        </p:txBody>
      </p:sp>
      <p:sp>
        <p:nvSpPr>
          <p:cNvPr id="4" name="AUTO_footer"/>
          <p:cNvSpPr txBox="1"/>
          <p:nvPr/>
        </p:nvSpPr>
        <p:spPr>
          <a:xfrm>
            <a:off x="6217920" y="6510528"/>
            <a:ext cx="51663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sz="650" b="0">
                <a:solidFill>
                  <a:srgbClr val="787878"/>
                </a:solidFill>
                <a:latin typeface="Calibri"/>
              </a:rPr>
              <a:t>Source: Hermet et al., PLOS Pathogens 2023; doi:10.1371/journal.ppat.1011532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_left"/>
          <p:cNvSpPr>
            <a:spLocks noGrp="1"/>
          </p:cNvSpPr>
          <p:nvPr>
            <p:ph sz="half" idx="1"/>
          </p:nvPr>
        </p:nvSpPr>
        <p:spPr/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50" b="0">
                <a:solidFill>
                  <a:srgbClr val="262626"/>
                </a:solidFill>
                <a:latin typeface="Calibri"/>
              </a:rPr>
              <a:t>Variant escape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sz="1850" b="0">
                <a:solidFill>
                  <a:srgbClr val="262626"/>
                </a:solidFill>
                <a:latin typeface="Calibri"/>
              </a:rPr>
              <a:t>Early monoclonal antibodies lost activity as Spike accumulated mutations.</a:t>
            </a:r>
          </a:p>
          <a:p>
            <a:pPr marL="0" indent="0" algn="l">
              <a:spcAft>
                <a:spcPts val="600"/>
              </a:spcAft>
              <a:buNone/>
            </a:pPr>
            <a:endParaRPr sz="1850" b="0">
              <a:solidFill>
                <a:srgbClr val="262626"/>
              </a:solidFill>
              <a:latin typeface="Calibri"/>
            </a:endParaRPr>
          </a:p>
          <a:p>
            <a:pPr marL="0" indent="0" algn="l">
              <a:spcAft>
                <a:spcPts val="600"/>
              </a:spcAft>
              <a:buNone/>
            </a:pPr>
            <a:r>
              <a:rPr sz="1850" b="0">
                <a:solidFill>
                  <a:srgbClr val="262626"/>
                </a:solidFill>
                <a:latin typeface="Calibri"/>
              </a:rPr>
              <a:t>Therapeutic gap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sz="1850" b="0">
                <a:solidFill>
                  <a:srgbClr val="262626"/>
                </a:solidFill>
                <a:latin typeface="Calibri"/>
              </a:rPr>
              <a:t>Vaccines reduced disease burden, but immunocompromised and high-risk patients still need antiviral options.</a:t>
            </a:r>
          </a:p>
        </p:txBody>
      </p:sp>
      <p:sp>
        <p:nvSpPr>
          <p:cNvPr id="3" name="AUTO_right"/>
          <p:cNvSpPr>
            <a:spLocks noGrp="1"/>
          </p:cNvSpPr>
          <p:nvPr>
            <p:ph sz="half" idx="2"/>
          </p:nvPr>
        </p:nvSpPr>
        <p:spPr/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50" b="0">
                <a:solidFill>
                  <a:srgbClr val="262626"/>
                </a:solidFill>
                <a:latin typeface="Calibri"/>
              </a:rPr>
              <a:t>Delivery gap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sz="1850" b="0">
                <a:solidFill>
                  <a:srgbClr val="262626"/>
                </a:solidFill>
                <a:latin typeface="Calibri"/>
              </a:rPr>
              <a:t>Systemic IV dosing is cumbersome and may require high plasma concentrations to reach airway mucosa.</a:t>
            </a:r>
          </a:p>
          <a:p>
            <a:pPr marL="0" indent="0" algn="l">
              <a:spcAft>
                <a:spcPts val="600"/>
              </a:spcAft>
              <a:buNone/>
            </a:pPr>
            <a:endParaRPr sz="1850" b="0">
              <a:solidFill>
                <a:srgbClr val="262626"/>
              </a:solidFill>
              <a:latin typeface="Calibri"/>
            </a:endParaRPr>
          </a:p>
          <a:p>
            <a:pPr marL="0" indent="0" algn="l">
              <a:spcAft>
                <a:spcPts val="600"/>
              </a:spcAft>
              <a:buNone/>
            </a:pPr>
            <a:r>
              <a:rPr sz="1850" b="0">
                <a:solidFill>
                  <a:srgbClr val="262626"/>
                </a:solidFill>
                <a:latin typeface="Calibri"/>
              </a:rPr>
              <a:t>Study objective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sz="1850" b="0">
                <a:solidFill>
                  <a:srgbClr val="262626"/>
                </a:solidFill>
                <a:latin typeface="Calibri"/>
              </a:rPr>
              <a:t>Find a broadly neutralizing antibody and test whether inhalation can place active mAb where respiratory infection starts.</a:t>
            </a:r>
          </a:p>
        </p:txBody>
      </p:sp>
      <p:sp>
        <p:nvSpPr>
          <p:cNvPr id="4" name="AUTO_title"/>
          <p:cNvSpPr>
            <a:spLocks noGrp="1"/>
          </p:cNvSpPr>
          <p:nvPr>
            <p:ph type="title"/>
          </p:nvPr>
        </p:nvSpPr>
        <p:spPr>
          <a:xfrm>
            <a:off x="658368" y="338328"/>
            <a:ext cx="10698480" cy="713232"/>
          </a:xfrm>
        </p:spPr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3100" b="1">
                <a:solidFill>
                  <a:srgbClr val="262626"/>
                </a:solidFill>
                <a:latin typeface="Calibri"/>
              </a:rPr>
              <a:t>Why this study was needed</a:t>
            </a:r>
          </a:p>
        </p:txBody>
      </p:sp>
      <p:sp>
        <p:nvSpPr>
          <p:cNvPr id="5" name="AUTO_title_underline"/>
          <p:cNvSpPr/>
          <p:nvPr/>
        </p:nvSpPr>
        <p:spPr>
          <a:xfrm>
            <a:off x="658368" y="1417320"/>
            <a:ext cx="1051560" cy="32004"/>
          </a:xfrm>
          <a:prstGeom prst="rect">
            <a:avLst/>
          </a:prstGeom>
          <a:solidFill>
            <a:srgbClr val="BC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UTO_footer"/>
          <p:cNvSpPr txBox="1"/>
          <p:nvPr/>
        </p:nvSpPr>
        <p:spPr>
          <a:xfrm>
            <a:off x="6217920" y="6510528"/>
            <a:ext cx="51663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sz="650" b="0">
                <a:solidFill>
                  <a:srgbClr val="787878"/>
                </a:solidFill>
                <a:latin typeface="Calibri"/>
              </a:rPr>
              <a:t>Source: Hermet et al., PLOS Pathogens 2023; doi:10.1371/journal.ppat.1011532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_title"/>
          <p:cNvSpPr>
            <a:spLocks noGrp="1"/>
          </p:cNvSpPr>
          <p:nvPr>
            <p:ph type="title"/>
          </p:nvPr>
        </p:nvSpPr>
        <p:spPr>
          <a:xfrm>
            <a:off x="658368" y="338328"/>
            <a:ext cx="10698480" cy="713232"/>
          </a:xfrm>
        </p:spPr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3100" b="1">
                <a:solidFill>
                  <a:srgbClr val="262626"/>
                </a:solidFill>
                <a:latin typeface="Calibri"/>
              </a:rPr>
              <a:t>Discovery workflow</a:t>
            </a:r>
          </a:p>
        </p:txBody>
      </p:sp>
      <p:sp>
        <p:nvSpPr>
          <p:cNvPr id="4" name="AUTO_title_underline"/>
          <p:cNvSpPr/>
          <p:nvPr/>
        </p:nvSpPr>
        <p:spPr>
          <a:xfrm>
            <a:off x="658368" y="1417320"/>
            <a:ext cx="1051560" cy="32004"/>
          </a:xfrm>
          <a:prstGeom prst="rect">
            <a:avLst/>
          </a:prstGeom>
          <a:solidFill>
            <a:srgbClr val="BC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intro"/>
          <p:cNvSpPr txBox="1"/>
          <p:nvPr/>
        </p:nvSpPr>
        <p:spPr>
          <a:xfrm>
            <a:off x="658368" y="1536192"/>
            <a:ext cx="1069848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sz="1800" b="0">
                <a:solidFill>
                  <a:srgbClr val="262626"/>
                </a:solidFill>
                <a:latin typeface="Calibri"/>
              </a:rPr>
              <a:t>HybriFree screening reconstructed antigen-specific antibody libraries from B cells, then selected neutralizing clones for characterization and humanization.</a:t>
            </a:r>
          </a:p>
        </p:txBody>
      </p:sp>
      <p:pic>
        <p:nvPicPr>
          <p:cNvPr id="6" name="AUTO_fig1" descr="fig1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454" y="2139696"/>
            <a:ext cx="7522307" cy="3520440"/>
          </a:xfrm>
          <a:prstGeom prst="rect">
            <a:avLst/>
          </a:prstGeom>
        </p:spPr>
      </p:pic>
      <p:sp>
        <p:nvSpPr>
          <p:cNvPr id="7" name="AUTO_caption"/>
          <p:cNvSpPr txBox="1"/>
          <p:nvPr/>
        </p:nvSpPr>
        <p:spPr>
          <a:xfrm>
            <a:off x="658368" y="5806440"/>
            <a:ext cx="10698480" cy="2103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sz="800" b="0">
                <a:solidFill>
                  <a:srgbClr val="787878"/>
                </a:solidFill>
                <a:latin typeface="Calibri"/>
              </a:rPr>
              <a:t>Figure adapted from article Fig. 1.</a:t>
            </a:r>
          </a:p>
        </p:txBody>
      </p:sp>
      <p:sp>
        <p:nvSpPr>
          <p:cNvPr id="8" name="AUTO_footer"/>
          <p:cNvSpPr txBox="1"/>
          <p:nvPr/>
        </p:nvSpPr>
        <p:spPr>
          <a:xfrm>
            <a:off x="6217920" y="6510528"/>
            <a:ext cx="51663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sz="650" b="0">
                <a:solidFill>
                  <a:srgbClr val="787878"/>
                </a:solidFill>
                <a:latin typeface="Calibri"/>
              </a:rPr>
              <a:t>Source: Hermet et al., PLOS Pathogens 2023; doi:10.1371/journal.ppat.1011532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_title"/>
          <p:cNvSpPr>
            <a:spLocks noGrp="1"/>
          </p:cNvSpPr>
          <p:nvPr>
            <p:ph type="title"/>
          </p:nvPr>
        </p:nvSpPr>
        <p:spPr>
          <a:xfrm>
            <a:off x="658368" y="338328"/>
            <a:ext cx="10698480" cy="713232"/>
          </a:xfrm>
        </p:spPr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3100" b="1">
                <a:solidFill>
                  <a:srgbClr val="262626"/>
                </a:solidFill>
                <a:latin typeface="Calibri"/>
              </a:rPr>
              <a:t>Variant breadth</a:t>
            </a:r>
          </a:p>
        </p:txBody>
      </p:sp>
      <p:sp>
        <p:nvSpPr>
          <p:cNvPr id="5" name="AUTO_caption"/>
          <p:cNvSpPr>
            <a:spLocks noGrp="1"/>
          </p:cNvSpPr>
          <p:nvPr>
            <p:ph type="body" sz="quarter" idx="11"/>
          </p:nvPr>
        </p:nvSpPr>
        <p:spPr/>
        <p:txBody>
          <a:bodyPr wrap="square" lIns="27432" tIns="18288" rIns="27432" bIns="18288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750" b="0">
                <a:solidFill>
                  <a:srgbClr val="787878"/>
                </a:solidFill>
                <a:latin typeface="Calibri"/>
              </a:rPr>
              <a:t>Figure adapted from article Fig. 2G.</a:t>
            </a:r>
          </a:p>
        </p:txBody>
      </p:sp>
      <p:sp>
        <p:nvSpPr>
          <p:cNvPr id="6" name="AUTO_title_underline"/>
          <p:cNvSpPr/>
          <p:nvPr/>
        </p:nvSpPr>
        <p:spPr>
          <a:xfrm>
            <a:off x="658368" y="1417320"/>
            <a:ext cx="1051560" cy="32004"/>
          </a:xfrm>
          <a:prstGeom prst="rect">
            <a:avLst/>
          </a:prstGeom>
          <a:solidFill>
            <a:srgbClr val="BC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UTO_breadth_head"/>
          <p:cNvSpPr txBox="1"/>
          <p:nvPr/>
        </p:nvSpPr>
        <p:spPr>
          <a:xfrm>
            <a:off x="658368" y="1517904"/>
            <a:ext cx="5340096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sz="1750" b="0">
                <a:solidFill>
                  <a:srgbClr val="262626"/>
                </a:solidFill>
                <a:latin typeface="Calibri"/>
              </a:rPr>
              <a:t>Pseudovirus neutralization stayed sub-nanomolar across major tested variants.</a:t>
            </a:r>
          </a:p>
        </p:txBody>
      </p:sp>
      <p:graphicFrame>
        <p:nvGraphicFramePr>
          <p:cNvPr id="8" name="AUTO_ic50_table"/>
          <p:cNvGraphicFramePr>
            <a:graphicFrameLocks noGrp="1"/>
          </p:cNvGraphicFramePr>
          <p:nvPr/>
        </p:nvGraphicFramePr>
        <p:xfrm>
          <a:off x="713232" y="2084831"/>
          <a:ext cx="4882895" cy="3566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7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10" b="1">
                          <a:solidFill>
                            <a:srgbClr val="FFFFFF"/>
                          </a:solidFill>
                          <a:latin typeface="Calibri"/>
                        </a:rPr>
                        <a:t>Variant</a:t>
                      </a:r>
                    </a:p>
                  </a:txBody>
                  <a:tcPr marL="73152" marR="73152" marT="18288" marB="18288">
                    <a:solidFill>
                      <a:srgbClr val="BC00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10" b="1">
                          <a:solidFill>
                            <a:srgbClr val="FFFFFF"/>
                          </a:solidFill>
                          <a:latin typeface="Calibri"/>
                        </a:rPr>
                        <a:t>ICO-hu104 IC50</a:t>
                      </a:r>
                    </a:p>
                  </a:txBody>
                  <a:tcPr marL="73152" marR="73152" marT="18288" marB="18288">
                    <a:solidFill>
                      <a:srgbClr val="BC0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60" b="0">
                          <a:solidFill>
                            <a:srgbClr val="262626"/>
                          </a:solidFill>
                          <a:latin typeface="Calibri"/>
                        </a:rPr>
                        <a:t>Wuhan</a:t>
                      </a:r>
                    </a:p>
                  </a:txBody>
                  <a:tcPr marL="73152" marR="73152" marT="18288" marB="18288">
                    <a:solidFill>
                      <a:srgbClr val="F5E2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60" b="0">
                          <a:solidFill>
                            <a:srgbClr val="262626"/>
                          </a:solidFill>
                          <a:latin typeface="Calibri"/>
                        </a:rPr>
                        <a:t>0.038 nM</a:t>
                      </a:r>
                    </a:p>
                  </a:txBody>
                  <a:tcPr marL="73152" marR="73152" marT="18288" marB="18288">
                    <a:solidFill>
                      <a:srgbClr val="F5E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60" b="0">
                          <a:solidFill>
                            <a:srgbClr val="262626"/>
                          </a:solidFill>
                          <a:latin typeface="Calibri"/>
                        </a:rPr>
                        <a:t>Alpha B.1.1.7</a:t>
                      </a:r>
                    </a:p>
                  </a:txBody>
                  <a:tcPr marL="73152" marR="73152" marT="18288" marB="18288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60" b="0">
                          <a:solidFill>
                            <a:srgbClr val="262626"/>
                          </a:solidFill>
                          <a:latin typeface="Calibri"/>
                        </a:rPr>
                        <a:t>0.033 nM</a:t>
                      </a:r>
                    </a:p>
                  </a:txBody>
                  <a:tcPr marL="73152" marR="73152" marT="18288" marB="18288"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60" b="0">
                          <a:solidFill>
                            <a:srgbClr val="262626"/>
                          </a:solidFill>
                          <a:latin typeface="Calibri"/>
                        </a:rPr>
                        <a:t>Beta B.1.351</a:t>
                      </a:r>
                    </a:p>
                  </a:txBody>
                  <a:tcPr marL="73152" marR="73152" marT="18288" marB="18288">
                    <a:solidFill>
                      <a:srgbClr val="F5E2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60" b="0">
                          <a:solidFill>
                            <a:srgbClr val="262626"/>
                          </a:solidFill>
                          <a:latin typeface="Calibri"/>
                        </a:rPr>
                        <a:t>0.052 nM</a:t>
                      </a:r>
                    </a:p>
                  </a:txBody>
                  <a:tcPr marL="73152" marR="73152" marT="18288" marB="18288">
                    <a:solidFill>
                      <a:srgbClr val="F5E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60" b="0">
                          <a:solidFill>
                            <a:srgbClr val="262626"/>
                          </a:solidFill>
                          <a:latin typeface="Calibri"/>
                        </a:rPr>
                        <a:t>Delta B.1.617.2</a:t>
                      </a:r>
                    </a:p>
                  </a:txBody>
                  <a:tcPr marL="73152" marR="73152" marT="18288" marB="18288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60" b="0">
                          <a:solidFill>
                            <a:srgbClr val="262626"/>
                          </a:solidFill>
                          <a:latin typeface="Calibri"/>
                        </a:rPr>
                        <a:t>0.053 nM</a:t>
                      </a:r>
                    </a:p>
                  </a:txBody>
                  <a:tcPr marL="73152" marR="73152" marT="18288" marB="18288"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60" b="0">
                          <a:solidFill>
                            <a:srgbClr val="262626"/>
                          </a:solidFill>
                          <a:latin typeface="Calibri"/>
                        </a:rPr>
                        <a:t>Omicron B.1.1.529</a:t>
                      </a:r>
                    </a:p>
                  </a:txBody>
                  <a:tcPr marL="73152" marR="73152" marT="18288" marB="18288">
                    <a:solidFill>
                      <a:srgbClr val="F5E2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60" b="0">
                          <a:solidFill>
                            <a:srgbClr val="262626"/>
                          </a:solidFill>
                          <a:latin typeface="Calibri"/>
                        </a:rPr>
                        <a:t>0.313 nM</a:t>
                      </a:r>
                    </a:p>
                  </a:txBody>
                  <a:tcPr marL="73152" marR="73152" marT="18288" marB="18288">
                    <a:solidFill>
                      <a:srgbClr val="F5E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60" b="0">
                          <a:solidFill>
                            <a:srgbClr val="262626"/>
                          </a:solidFill>
                          <a:latin typeface="Calibri"/>
                        </a:rPr>
                        <a:t>Omicron BA.2</a:t>
                      </a:r>
                    </a:p>
                  </a:txBody>
                  <a:tcPr marL="73152" marR="73152" marT="18288" marB="18288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60" b="0">
                          <a:solidFill>
                            <a:srgbClr val="262626"/>
                          </a:solidFill>
                          <a:latin typeface="Calibri"/>
                        </a:rPr>
                        <a:t>0.108 nM</a:t>
                      </a:r>
                    </a:p>
                  </a:txBody>
                  <a:tcPr marL="73152" marR="73152" marT="18288" marB="18288"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9" name="AUTO_fig2g" descr="fig2_omicron_subvari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816144"/>
            <a:ext cx="5184648" cy="2322991"/>
          </a:xfrm>
          <a:prstGeom prst="rect">
            <a:avLst/>
          </a:prstGeom>
        </p:spPr>
      </p:pic>
      <p:sp>
        <p:nvSpPr>
          <p:cNvPr id="10" name="AUTO_footer"/>
          <p:cNvSpPr txBox="1"/>
          <p:nvPr/>
        </p:nvSpPr>
        <p:spPr>
          <a:xfrm>
            <a:off x="6217920" y="6510528"/>
            <a:ext cx="51663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sz="650" b="0">
                <a:solidFill>
                  <a:srgbClr val="787878"/>
                </a:solidFill>
                <a:latin typeface="Calibri"/>
              </a:rPr>
              <a:t>Source: Hermet et al., PLOS Pathogens 2023; doi:10.1371/journal.ppat.1011532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_design_text"/>
          <p:cNvSpPr>
            <a:spLocks noGrp="1"/>
          </p:cNvSpPr>
          <p:nvPr>
            <p:ph sz="half" idx="1"/>
          </p:nvPr>
        </p:nvSpPr>
        <p:spPr/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720" b="0">
                <a:solidFill>
                  <a:srgbClr val="262626"/>
                </a:solidFill>
                <a:latin typeface="Calibri"/>
              </a:rPr>
              <a:t>Cynomolgus macaques challenged with SARS-CoV-2 Delta by intranasal and intratracheal routes.</a:t>
            </a:r>
          </a:p>
          <a:p>
            <a:pPr marL="0" indent="0" algn="l">
              <a:spcAft>
                <a:spcPts val="600"/>
              </a:spcAft>
              <a:buNone/>
            </a:pPr>
            <a:endParaRPr sz="1720" b="0">
              <a:solidFill>
                <a:srgbClr val="262626"/>
              </a:solidFill>
              <a:latin typeface="Calibri"/>
            </a:endParaRPr>
          </a:p>
          <a:p>
            <a:pPr marL="0" indent="0" algn="l">
              <a:spcAft>
                <a:spcPts val="600"/>
              </a:spcAft>
              <a:buNone/>
            </a:pPr>
            <a:r>
              <a:rPr sz="1720" b="0">
                <a:solidFill>
                  <a:srgbClr val="262626"/>
                </a:solidFill>
                <a:latin typeface="Calibri"/>
              </a:rPr>
              <a:t>Therapeutic dosing occurred 24 h after challenge.</a:t>
            </a:r>
          </a:p>
          <a:p>
            <a:pPr marL="0" indent="0" algn="l">
              <a:spcAft>
                <a:spcPts val="600"/>
              </a:spcAft>
              <a:buNone/>
            </a:pPr>
            <a:endParaRPr sz="1720" b="0">
              <a:solidFill>
                <a:srgbClr val="262626"/>
              </a:solidFill>
              <a:latin typeface="Calibri"/>
            </a:endParaRPr>
          </a:p>
          <a:p>
            <a:pPr marL="0" indent="0" algn="l">
              <a:spcAft>
                <a:spcPts val="600"/>
              </a:spcAft>
              <a:buNone/>
            </a:pPr>
            <a:r>
              <a:rPr sz="1720" b="0">
                <a:solidFill>
                  <a:srgbClr val="262626"/>
                </a:solidFill>
                <a:latin typeface="Calibri"/>
              </a:rPr>
              <a:t>ICO-hu104 was delivered as 25 mg/kg IV or by vibrating-mesh nebulization.</a:t>
            </a:r>
          </a:p>
          <a:p>
            <a:pPr marL="0" indent="0" algn="l">
              <a:spcAft>
                <a:spcPts val="600"/>
              </a:spcAft>
              <a:buNone/>
            </a:pPr>
            <a:endParaRPr sz="1720" b="0">
              <a:solidFill>
                <a:srgbClr val="262626"/>
              </a:solidFill>
              <a:latin typeface="Calibri"/>
            </a:endParaRPr>
          </a:p>
          <a:p>
            <a:pPr marL="0" indent="0" algn="l">
              <a:spcAft>
                <a:spcPts val="600"/>
              </a:spcAft>
              <a:buNone/>
            </a:pPr>
            <a:r>
              <a:rPr sz="1720" b="0">
                <a:solidFill>
                  <a:srgbClr val="262626"/>
                </a:solidFill>
                <a:latin typeface="Calibri"/>
              </a:rPr>
              <a:t>Controls included concurrent mock-nebulized animals and historical controls challenged under similar conditions.</a:t>
            </a:r>
          </a:p>
        </p:txBody>
      </p:sp>
      <p:sp>
        <p:nvSpPr>
          <p:cNvPr id="4" name="AUTO_title"/>
          <p:cNvSpPr>
            <a:spLocks noGrp="1"/>
          </p:cNvSpPr>
          <p:nvPr>
            <p:ph type="title"/>
          </p:nvPr>
        </p:nvSpPr>
        <p:spPr>
          <a:xfrm>
            <a:off x="658368" y="338328"/>
            <a:ext cx="10698480" cy="713232"/>
          </a:xfrm>
        </p:spPr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3100" b="1">
                <a:solidFill>
                  <a:srgbClr val="262626"/>
                </a:solidFill>
                <a:latin typeface="Calibri"/>
              </a:rPr>
              <a:t>Non-human primate challenge design</a:t>
            </a:r>
          </a:p>
        </p:txBody>
      </p:sp>
      <p:sp>
        <p:nvSpPr>
          <p:cNvPr id="5" name="AUTO_caption"/>
          <p:cNvSpPr>
            <a:spLocks noGrp="1"/>
          </p:cNvSpPr>
          <p:nvPr>
            <p:ph type="body" sz="quarter" idx="11"/>
          </p:nvPr>
        </p:nvSpPr>
        <p:spPr/>
        <p:txBody>
          <a:bodyPr wrap="square" lIns="27432" tIns="18288" rIns="27432" bIns="18288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750" b="0">
                <a:solidFill>
                  <a:srgbClr val="787878"/>
                </a:solidFill>
                <a:latin typeface="Calibri"/>
              </a:rPr>
              <a:t>Figure adapted from article Fig. 3A-B.</a:t>
            </a:r>
          </a:p>
        </p:txBody>
      </p:sp>
      <p:sp>
        <p:nvSpPr>
          <p:cNvPr id="6" name="AUTO_title_underline"/>
          <p:cNvSpPr/>
          <p:nvPr/>
        </p:nvSpPr>
        <p:spPr>
          <a:xfrm>
            <a:off x="658368" y="1417320"/>
            <a:ext cx="1051560" cy="32004"/>
          </a:xfrm>
          <a:prstGeom prst="rect">
            <a:avLst/>
          </a:prstGeom>
          <a:solidFill>
            <a:srgbClr val="BC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AUTO_fig3design" descr="fig3_design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673" y="1719072"/>
            <a:ext cx="3343701" cy="4480560"/>
          </a:xfrm>
          <a:prstGeom prst="rect">
            <a:avLst/>
          </a:prstGeom>
        </p:spPr>
      </p:pic>
      <p:sp>
        <p:nvSpPr>
          <p:cNvPr id="8" name="AUTO_footer"/>
          <p:cNvSpPr txBox="1"/>
          <p:nvPr/>
        </p:nvSpPr>
        <p:spPr>
          <a:xfrm>
            <a:off x="6217920" y="6510528"/>
            <a:ext cx="51663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sz="650" b="0">
                <a:solidFill>
                  <a:srgbClr val="787878"/>
                </a:solidFill>
                <a:latin typeface="Calibri"/>
              </a:rPr>
              <a:t>Source: Hermet et al., PLOS Pathogens 2023; doi:10.1371/journal.ppat.1011532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_neb_quality_text"/>
          <p:cNvSpPr>
            <a:spLocks noGrp="1"/>
          </p:cNvSpPr>
          <p:nvPr>
            <p:ph sz="half" idx="1"/>
          </p:nvPr>
        </p:nvSpPr>
        <p:spPr/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780" b="0">
                <a:solidFill>
                  <a:srgbClr val="262626"/>
                </a:solidFill>
                <a:latin typeface="Calibri"/>
              </a:rPr>
              <a:t>Vibrating-mesh nebulization did not detectably aggregate ICO-hu104 by SEC.</a:t>
            </a:r>
          </a:p>
          <a:p>
            <a:pPr marL="0" indent="0" algn="l">
              <a:spcAft>
                <a:spcPts val="600"/>
              </a:spcAft>
              <a:buNone/>
            </a:pPr>
            <a:endParaRPr sz="1780" b="0">
              <a:solidFill>
                <a:srgbClr val="262626"/>
              </a:solidFill>
              <a:latin typeface="Calibri"/>
            </a:endParaRPr>
          </a:p>
          <a:p>
            <a:pPr marL="0" indent="0" algn="l">
              <a:spcAft>
                <a:spcPts val="600"/>
              </a:spcAft>
              <a:buNone/>
            </a:pPr>
            <a:r>
              <a:rPr sz="1780" b="0">
                <a:solidFill>
                  <a:srgbClr val="262626"/>
                </a:solidFill>
                <a:latin typeface="Calibri"/>
              </a:rPr>
              <a:t>Post-nebulization samples retained pseudovirus neutralization against Delta and Omicron.</a:t>
            </a:r>
          </a:p>
          <a:p>
            <a:pPr marL="0" indent="0" algn="l">
              <a:spcAft>
                <a:spcPts val="600"/>
              </a:spcAft>
              <a:buNone/>
            </a:pPr>
            <a:endParaRPr sz="1780" b="0">
              <a:solidFill>
                <a:srgbClr val="262626"/>
              </a:solidFill>
              <a:latin typeface="Calibri"/>
            </a:endParaRPr>
          </a:p>
          <a:p>
            <a:pPr marL="0" indent="0" algn="l">
              <a:spcAft>
                <a:spcPts val="600"/>
              </a:spcAft>
              <a:buNone/>
            </a:pPr>
            <a:r>
              <a:rPr sz="1780" b="0">
                <a:solidFill>
                  <a:srgbClr val="262626"/>
                </a:solidFill>
                <a:latin typeface="Calibri"/>
              </a:rPr>
              <a:t>PET/CT-based extrapolation estimated a median 7.0 mg/kg deposited across the respiratory tract, including 2.4 mg/kg in the lungs.</a:t>
            </a:r>
          </a:p>
        </p:txBody>
      </p:sp>
      <p:sp>
        <p:nvSpPr>
          <p:cNvPr id="4" name="AUTO_title"/>
          <p:cNvSpPr>
            <a:spLocks noGrp="1"/>
          </p:cNvSpPr>
          <p:nvPr>
            <p:ph type="title"/>
          </p:nvPr>
        </p:nvSpPr>
        <p:spPr>
          <a:xfrm>
            <a:off x="658368" y="338328"/>
            <a:ext cx="10698480" cy="713232"/>
          </a:xfrm>
        </p:spPr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3100" b="1">
                <a:solidFill>
                  <a:srgbClr val="262626"/>
                </a:solidFill>
                <a:latin typeface="Calibri"/>
              </a:rPr>
              <a:t>Nebulization quality</a:t>
            </a:r>
          </a:p>
        </p:txBody>
      </p:sp>
      <p:sp>
        <p:nvSpPr>
          <p:cNvPr id="5" name="AUTO_caption"/>
          <p:cNvSpPr>
            <a:spLocks noGrp="1"/>
          </p:cNvSpPr>
          <p:nvPr>
            <p:ph type="body" sz="quarter" idx="11"/>
          </p:nvPr>
        </p:nvSpPr>
        <p:spPr/>
        <p:txBody>
          <a:bodyPr wrap="square" lIns="27432" tIns="18288" rIns="27432" bIns="18288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750" b="0">
                <a:solidFill>
                  <a:srgbClr val="787878"/>
                </a:solidFill>
                <a:latin typeface="Calibri"/>
              </a:rPr>
              <a:t>Figure adapted from article Fig. 4.</a:t>
            </a:r>
          </a:p>
        </p:txBody>
      </p:sp>
      <p:sp>
        <p:nvSpPr>
          <p:cNvPr id="6" name="AUTO_title_underline"/>
          <p:cNvSpPr/>
          <p:nvPr/>
        </p:nvSpPr>
        <p:spPr>
          <a:xfrm>
            <a:off x="658368" y="1417320"/>
            <a:ext cx="1051560" cy="32004"/>
          </a:xfrm>
          <a:prstGeom prst="rect">
            <a:avLst/>
          </a:prstGeom>
          <a:solidFill>
            <a:srgbClr val="BC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AUTO_fig4" descr="fig4_nebulization_integ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863" y="1737360"/>
            <a:ext cx="4421320" cy="4352544"/>
          </a:xfrm>
          <a:prstGeom prst="rect">
            <a:avLst/>
          </a:prstGeom>
        </p:spPr>
      </p:pic>
      <p:sp>
        <p:nvSpPr>
          <p:cNvPr id="8" name="AUTO_footer"/>
          <p:cNvSpPr txBox="1"/>
          <p:nvPr/>
        </p:nvSpPr>
        <p:spPr>
          <a:xfrm>
            <a:off x="6217920" y="6510528"/>
            <a:ext cx="51663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sz="650" b="0">
                <a:solidFill>
                  <a:srgbClr val="787878"/>
                </a:solidFill>
                <a:latin typeface="Calibri"/>
              </a:rPr>
              <a:t>Source: Hermet et al., PLOS Pathogens 2023; doi:10.1371/journal.ppat.1011532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_exposure_text"/>
          <p:cNvSpPr>
            <a:spLocks noGrp="1"/>
          </p:cNvSpPr>
          <p:nvPr>
            <p:ph sz="half" idx="1"/>
          </p:nvPr>
        </p:nvSpPr>
        <p:spPr/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760" b="0">
                <a:solidFill>
                  <a:srgbClr val="262626"/>
                </a:solidFill>
                <a:latin typeface="Calibri"/>
              </a:rPr>
              <a:t>IV dosing produced much higher serum antibody levels, but nebulization shifted exposure toward the lower respiratory tract.</a:t>
            </a:r>
          </a:p>
          <a:p>
            <a:pPr marL="0" indent="0" algn="l">
              <a:spcAft>
                <a:spcPts val="600"/>
              </a:spcAft>
              <a:buNone/>
            </a:pPr>
            <a:endParaRPr sz="1760" b="0">
              <a:solidFill>
                <a:srgbClr val="262626"/>
              </a:solidFill>
              <a:latin typeface="Calibri"/>
            </a:endParaRPr>
          </a:p>
          <a:p>
            <a:pPr marL="0" indent="0" algn="l">
              <a:spcAft>
                <a:spcPts val="600"/>
              </a:spcAft>
              <a:buNone/>
            </a:pPr>
            <a:r>
              <a:rPr sz="1760" b="0">
                <a:solidFill>
                  <a:srgbClr val="262626"/>
                </a:solidFill>
                <a:latin typeface="Calibri"/>
              </a:rPr>
              <a:t>BAL concentration on day 3 averaged 10.6 ug/mL after nebulization versus 0.16 ug/mL after IV dosing.</a:t>
            </a:r>
          </a:p>
          <a:p>
            <a:pPr marL="0" indent="0" algn="l">
              <a:spcAft>
                <a:spcPts val="600"/>
              </a:spcAft>
              <a:buNone/>
            </a:pPr>
            <a:endParaRPr sz="1760" b="0">
              <a:solidFill>
                <a:srgbClr val="262626"/>
              </a:solidFill>
              <a:latin typeface="Calibri"/>
            </a:endParaRPr>
          </a:p>
          <a:p>
            <a:pPr marL="0" indent="0" algn="l">
              <a:spcAft>
                <a:spcPts val="600"/>
              </a:spcAft>
              <a:buNone/>
            </a:pPr>
            <a:r>
              <a:rPr sz="1760" b="0">
                <a:solidFill>
                  <a:srgbClr val="262626"/>
                </a:solidFill>
                <a:latin typeface="Calibri"/>
              </a:rPr>
              <a:t>This local exposure advantage is central to the inhaled-delivery hypothesis.</a:t>
            </a:r>
          </a:p>
        </p:txBody>
      </p:sp>
      <p:sp>
        <p:nvSpPr>
          <p:cNvPr id="4" name="AUTO_title"/>
          <p:cNvSpPr>
            <a:spLocks noGrp="1"/>
          </p:cNvSpPr>
          <p:nvPr>
            <p:ph type="title"/>
          </p:nvPr>
        </p:nvSpPr>
        <p:spPr>
          <a:xfrm>
            <a:off x="658368" y="338328"/>
            <a:ext cx="10698480" cy="713232"/>
          </a:xfrm>
        </p:spPr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3100" b="1">
                <a:solidFill>
                  <a:srgbClr val="262626"/>
                </a:solidFill>
                <a:latin typeface="Calibri"/>
              </a:rPr>
              <a:t>Exposure where virus replicates</a:t>
            </a:r>
          </a:p>
        </p:txBody>
      </p:sp>
      <p:sp>
        <p:nvSpPr>
          <p:cNvPr id="5" name="AUTO_caption"/>
          <p:cNvSpPr>
            <a:spLocks noGrp="1"/>
          </p:cNvSpPr>
          <p:nvPr>
            <p:ph type="body" sz="quarter" idx="11"/>
          </p:nvPr>
        </p:nvSpPr>
        <p:spPr/>
        <p:txBody>
          <a:bodyPr wrap="square" lIns="27432" tIns="18288" rIns="27432" bIns="18288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750" b="0">
                <a:solidFill>
                  <a:srgbClr val="787878"/>
                </a:solidFill>
                <a:latin typeface="Calibri"/>
              </a:rPr>
              <a:t>Figure adapted from article Fig. 3D.</a:t>
            </a:r>
          </a:p>
        </p:txBody>
      </p:sp>
      <p:sp>
        <p:nvSpPr>
          <p:cNvPr id="6" name="AUTO_title_underline"/>
          <p:cNvSpPr/>
          <p:nvPr/>
        </p:nvSpPr>
        <p:spPr>
          <a:xfrm>
            <a:off x="658368" y="1417320"/>
            <a:ext cx="1051560" cy="32004"/>
          </a:xfrm>
          <a:prstGeom prst="rect">
            <a:avLst/>
          </a:prstGeom>
          <a:solidFill>
            <a:srgbClr val="BC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AUTO_fig3bal" descr="fig3_bal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712" y="1874519"/>
            <a:ext cx="3537334" cy="3886200"/>
          </a:xfrm>
          <a:prstGeom prst="rect">
            <a:avLst/>
          </a:prstGeom>
        </p:spPr>
      </p:pic>
      <p:sp>
        <p:nvSpPr>
          <p:cNvPr id="8" name="AUTO_exposure_label"/>
          <p:cNvSpPr txBox="1"/>
          <p:nvPr/>
        </p:nvSpPr>
        <p:spPr>
          <a:xfrm>
            <a:off x="6263640" y="1499616"/>
            <a:ext cx="50292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sz="1450" b="1">
                <a:solidFill>
                  <a:srgbClr val="BC0023"/>
                </a:solidFill>
                <a:latin typeface="Calibri"/>
              </a:rPr>
              <a:t>Lower-airway exposure</a:t>
            </a:r>
          </a:p>
        </p:txBody>
      </p:sp>
      <p:sp>
        <p:nvSpPr>
          <p:cNvPr id="9" name="AUTO_footer"/>
          <p:cNvSpPr txBox="1"/>
          <p:nvPr/>
        </p:nvSpPr>
        <p:spPr>
          <a:xfrm>
            <a:off x="6217920" y="6510528"/>
            <a:ext cx="51663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sz="650" b="0">
                <a:solidFill>
                  <a:srgbClr val="787878"/>
                </a:solidFill>
                <a:latin typeface="Calibri"/>
              </a:rPr>
              <a:t>Source: Hermet et al., PLOS Pathogens 2023; doi:10.1371/journal.ppat.1011532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_antiviral_text"/>
          <p:cNvSpPr>
            <a:spLocks noGrp="1"/>
          </p:cNvSpPr>
          <p:nvPr>
            <p:ph sz="half" idx="1"/>
          </p:nvPr>
        </p:nvSpPr>
        <p:spPr/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739" b="0">
                <a:solidFill>
                  <a:srgbClr val="262626"/>
                </a:solidFill>
                <a:latin typeface="Calibri"/>
              </a:rPr>
              <a:t>At day 2 post-challenge, nasopharyngeal gRNA fell by 2.7 log10 with IV and 2.1 log10 with nebulized treatment versus controls.</a:t>
            </a:r>
          </a:p>
          <a:p>
            <a:pPr marL="0" indent="0" algn="l">
              <a:spcAft>
                <a:spcPts val="600"/>
              </a:spcAft>
              <a:buNone/>
            </a:pPr>
            <a:endParaRPr sz="1739" b="0">
              <a:solidFill>
                <a:srgbClr val="262626"/>
              </a:solidFill>
              <a:latin typeface="Calibri"/>
            </a:endParaRPr>
          </a:p>
          <a:p>
            <a:pPr marL="0" indent="0" algn="l">
              <a:spcAft>
                <a:spcPts val="600"/>
              </a:spcAft>
              <a:buNone/>
            </a:pPr>
            <a:r>
              <a:rPr sz="1739" b="0">
                <a:solidFill>
                  <a:srgbClr val="262626"/>
                </a:solidFill>
                <a:latin typeface="Calibri"/>
              </a:rPr>
              <a:t>Across days 0-14, nasopharyngeal viral-load AUC was lower in both treatment groups.</a:t>
            </a:r>
          </a:p>
          <a:p>
            <a:pPr marL="0" indent="0" algn="l">
              <a:spcAft>
                <a:spcPts val="600"/>
              </a:spcAft>
              <a:buNone/>
            </a:pPr>
            <a:endParaRPr sz="1739" b="0">
              <a:solidFill>
                <a:srgbClr val="262626"/>
              </a:solidFill>
              <a:latin typeface="Calibri"/>
            </a:endParaRPr>
          </a:p>
          <a:p>
            <a:pPr marL="0" indent="0" algn="l">
              <a:spcAft>
                <a:spcPts val="600"/>
              </a:spcAft>
              <a:buNone/>
            </a:pPr>
            <a:r>
              <a:rPr sz="1739" b="0">
                <a:solidFill>
                  <a:srgbClr val="262626"/>
                </a:solidFill>
                <a:latin typeface="Calibri"/>
              </a:rPr>
              <a:t>BAL gRNA and sgRNA were significantly lower at day 3 in treated animals.</a:t>
            </a:r>
          </a:p>
        </p:txBody>
      </p:sp>
      <p:sp>
        <p:nvSpPr>
          <p:cNvPr id="4" name="AUTO_title"/>
          <p:cNvSpPr>
            <a:spLocks noGrp="1"/>
          </p:cNvSpPr>
          <p:nvPr>
            <p:ph type="title"/>
          </p:nvPr>
        </p:nvSpPr>
        <p:spPr>
          <a:xfrm>
            <a:off x="658368" y="338328"/>
            <a:ext cx="10698480" cy="713232"/>
          </a:xfrm>
        </p:spPr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3100" b="1">
                <a:solidFill>
                  <a:srgbClr val="262626"/>
                </a:solidFill>
                <a:latin typeface="Calibri"/>
              </a:rPr>
              <a:t>Antiviral protection in macaques</a:t>
            </a:r>
          </a:p>
        </p:txBody>
      </p:sp>
      <p:sp>
        <p:nvSpPr>
          <p:cNvPr id="5" name="AUTO_caption"/>
          <p:cNvSpPr>
            <a:spLocks noGrp="1"/>
          </p:cNvSpPr>
          <p:nvPr>
            <p:ph type="body" sz="quarter" idx="11"/>
          </p:nvPr>
        </p:nvSpPr>
        <p:spPr/>
        <p:txBody>
          <a:bodyPr wrap="square" lIns="27432" tIns="18288" rIns="27432" bIns="18288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750" b="0">
                <a:solidFill>
                  <a:srgbClr val="787878"/>
                </a:solidFill>
                <a:latin typeface="Calibri"/>
              </a:rPr>
              <a:t>Figure adapted from article Fig. 5.</a:t>
            </a:r>
          </a:p>
        </p:txBody>
      </p:sp>
      <p:sp>
        <p:nvSpPr>
          <p:cNvPr id="6" name="AUTO_title_underline"/>
          <p:cNvSpPr/>
          <p:nvPr/>
        </p:nvSpPr>
        <p:spPr>
          <a:xfrm>
            <a:off x="658368" y="1417320"/>
            <a:ext cx="1051560" cy="32004"/>
          </a:xfrm>
          <a:prstGeom prst="rect">
            <a:avLst/>
          </a:prstGeom>
          <a:solidFill>
            <a:srgbClr val="BC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AUTO_fig5" descr="fig5_viral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427" y="1700784"/>
            <a:ext cx="4784193" cy="4443984"/>
          </a:xfrm>
          <a:prstGeom prst="rect">
            <a:avLst/>
          </a:prstGeom>
        </p:spPr>
      </p:pic>
      <p:sp>
        <p:nvSpPr>
          <p:cNvPr id="8" name="AUTO_footer"/>
          <p:cNvSpPr txBox="1"/>
          <p:nvPr/>
        </p:nvSpPr>
        <p:spPr>
          <a:xfrm>
            <a:off x="6217920" y="6510528"/>
            <a:ext cx="51663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sz="650" b="0">
                <a:solidFill>
                  <a:srgbClr val="787878"/>
                </a:solidFill>
                <a:latin typeface="Calibri"/>
              </a:rPr>
              <a:t>Source: Hermet et al., PLOS Pathogens 2023; doi:10.1371/journal.ppat.1011532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_title"/>
          <p:cNvSpPr>
            <a:spLocks noGrp="1"/>
          </p:cNvSpPr>
          <p:nvPr>
            <p:ph type="title"/>
          </p:nvPr>
        </p:nvSpPr>
        <p:spPr>
          <a:xfrm>
            <a:off x="658368" y="338328"/>
            <a:ext cx="10698480" cy="713232"/>
          </a:xfrm>
        </p:spPr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3100" b="1">
                <a:solidFill>
                  <a:srgbClr val="262626"/>
                </a:solidFill>
                <a:latin typeface="Calibri"/>
              </a:rPr>
              <a:t>Exposure-response supports pharmacology</a:t>
            </a:r>
          </a:p>
        </p:txBody>
      </p:sp>
      <p:sp>
        <p:nvSpPr>
          <p:cNvPr id="4" name="AUTO_title_underline"/>
          <p:cNvSpPr/>
          <p:nvPr/>
        </p:nvSpPr>
        <p:spPr>
          <a:xfrm>
            <a:off x="658368" y="1417320"/>
            <a:ext cx="1051560" cy="32004"/>
          </a:xfrm>
          <a:prstGeom prst="rect">
            <a:avLst/>
          </a:prstGeom>
          <a:solidFill>
            <a:srgbClr val="BC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UTO_pkpd_intro"/>
          <p:cNvSpPr txBox="1"/>
          <p:nvPr/>
        </p:nvSpPr>
        <p:spPr>
          <a:xfrm>
            <a:off x="658368" y="1481328"/>
            <a:ext cx="10698480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sz="1800" b="0">
                <a:solidFill>
                  <a:srgbClr val="262626"/>
                </a:solidFill>
                <a:latin typeface="Calibri"/>
              </a:rPr>
              <a:t>Higher ICO-hu104 concentrations were associated with lower viral replication in the nasopharynx and BAL.</a:t>
            </a:r>
          </a:p>
        </p:txBody>
      </p:sp>
      <p:pic>
        <p:nvPicPr>
          <p:cNvPr id="6" name="AUTO_fig6" descr="fig6_pkp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113" y="2057400"/>
            <a:ext cx="10276413" cy="3328416"/>
          </a:xfrm>
          <a:prstGeom prst="rect">
            <a:avLst/>
          </a:prstGeom>
        </p:spPr>
      </p:pic>
      <p:sp>
        <p:nvSpPr>
          <p:cNvPr id="7" name="AUTO_pkpd_note"/>
          <p:cNvSpPr txBox="1"/>
          <p:nvPr/>
        </p:nvSpPr>
        <p:spPr>
          <a:xfrm>
            <a:off x="868680" y="5596128"/>
            <a:ext cx="1005840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sz="1350" b="0">
                <a:solidFill>
                  <a:srgbClr val="565656"/>
                </a:solidFill>
                <a:latin typeface="Calibri"/>
              </a:rPr>
              <a:t>Nasopharyngeal peak viral load: Spearman R=-0.9605, p&lt;0.0001. BAL viral load: R=-0.7622, p=0.0137.</a:t>
            </a:r>
          </a:p>
        </p:txBody>
      </p:sp>
      <p:sp>
        <p:nvSpPr>
          <p:cNvPr id="8" name="AUTO_caption"/>
          <p:cNvSpPr txBox="1"/>
          <p:nvPr/>
        </p:nvSpPr>
        <p:spPr>
          <a:xfrm>
            <a:off x="658368" y="5989320"/>
            <a:ext cx="10698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sz="800" b="0">
                <a:solidFill>
                  <a:srgbClr val="787878"/>
                </a:solidFill>
                <a:latin typeface="Calibri"/>
              </a:rPr>
              <a:t>Figure adapted from article Fig. 6.</a:t>
            </a:r>
          </a:p>
        </p:txBody>
      </p:sp>
      <p:sp>
        <p:nvSpPr>
          <p:cNvPr id="9" name="AUTO_footer"/>
          <p:cNvSpPr txBox="1"/>
          <p:nvPr/>
        </p:nvSpPr>
        <p:spPr>
          <a:xfrm>
            <a:off x="6217920" y="6510528"/>
            <a:ext cx="51663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sz="650" b="0">
                <a:solidFill>
                  <a:srgbClr val="787878"/>
                </a:solidFill>
                <a:latin typeface="Calibri"/>
              </a:rPr>
              <a:t>Source: Hermet et al., PLOS Pathogens 2023; doi:10.1371/journal.ppat.1011532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_epitope_text"/>
          <p:cNvSpPr>
            <a:spLocks noGrp="1"/>
          </p:cNvSpPr>
          <p:nvPr>
            <p:ph sz="half" idx="1"/>
          </p:nvPr>
        </p:nvSpPr>
        <p:spPr/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720" b="0">
                <a:solidFill>
                  <a:srgbClr val="262626"/>
                </a:solidFill>
                <a:latin typeface="Calibri"/>
              </a:rPr>
              <a:t>HDX-MS mapped ICO-hu104 to exposed RBD beta-sheet regions around 433-443 and 497-510.</a:t>
            </a:r>
          </a:p>
          <a:p>
            <a:pPr marL="0" indent="0" algn="l">
              <a:spcAft>
                <a:spcPts val="600"/>
              </a:spcAft>
              <a:buNone/>
            </a:pPr>
            <a:endParaRPr sz="1720" b="0">
              <a:solidFill>
                <a:srgbClr val="262626"/>
              </a:solidFill>
              <a:latin typeface="Calibri"/>
            </a:endParaRPr>
          </a:p>
          <a:p>
            <a:pPr marL="0" indent="0" algn="l">
              <a:spcAft>
                <a:spcPts val="600"/>
              </a:spcAft>
              <a:buNone/>
            </a:pPr>
            <a:r>
              <a:rPr sz="1720" b="0">
                <a:solidFill>
                  <a:srgbClr val="262626"/>
                </a:solidFill>
                <a:latin typeface="Calibri"/>
              </a:rPr>
              <a:t>The key region sits away from common orthosteric sites and contains no Wuhan-to-Omicron mutations in the mapped epitope.</a:t>
            </a:r>
          </a:p>
          <a:p>
            <a:pPr marL="0" indent="0" algn="l">
              <a:spcAft>
                <a:spcPts val="600"/>
              </a:spcAft>
              <a:buNone/>
            </a:pPr>
            <a:endParaRPr sz="1720" b="0">
              <a:solidFill>
                <a:srgbClr val="262626"/>
              </a:solidFill>
              <a:latin typeface="Calibri"/>
            </a:endParaRPr>
          </a:p>
          <a:p>
            <a:pPr marL="0" indent="0" algn="l">
              <a:spcAft>
                <a:spcPts val="600"/>
              </a:spcAft>
              <a:buNone/>
            </a:pPr>
            <a:r>
              <a:rPr sz="1720" b="0">
                <a:solidFill>
                  <a:srgbClr val="262626"/>
                </a:solidFill>
                <a:latin typeface="Calibri"/>
              </a:rPr>
              <a:t>The earlier ICO-hu23 mapped to a mutation-rich region, explaining its loss of Omicron affinity.</a:t>
            </a:r>
          </a:p>
        </p:txBody>
      </p:sp>
      <p:sp>
        <p:nvSpPr>
          <p:cNvPr id="4" name="AUTO_title"/>
          <p:cNvSpPr>
            <a:spLocks noGrp="1"/>
          </p:cNvSpPr>
          <p:nvPr>
            <p:ph type="title"/>
          </p:nvPr>
        </p:nvSpPr>
        <p:spPr>
          <a:xfrm>
            <a:off x="658368" y="338328"/>
            <a:ext cx="10698480" cy="713232"/>
          </a:xfrm>
        </p:spPr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3100" b="1">
                <a:solidFill>
                  <a:srgbClr val="262626"/>
                </a:solidFill>
                <a:latin typeface="Calibri"/>
              </a:rPr>
              <a:t>Conserved epitope explains breadth</a:t>
            </a:r>
          </a:p>
        </p:txBody>
      </p:sp>
      <p:sp>
        <p:nvSpPr>
          <p:cNvPr id="5" name="AUTO_caption"/>
          <p:cNvSpPr>
            <a:spLocks noGrp="1"/>
          </p:cNvSpPr>
          <p:nvPr>
            <p:ph type="body" sz="quarter" idx="11"/>
          </p:nvPr>
        </p:nvSpPr>
        <p:spPr/>
        <p:txBody>
          <a:bodyPr wrap="square" lIns="27432" tIns="18288" rIns="27432" bIns="18288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750" b="0">
                <a:solidFill>
                  <a:srgbClr val="787878"/>
                </a:solidFill>
                <a:latin typeface="Calibri"/>
              </a:rPr>
              <a:t>Figure adapted from article Fig. 7B-C.</a:t>
            </a:r>
          </a:p>
        </p:txBody>
      </p:sp>
      <p:sp>
        <p:nvSpPr>
          <p:cNvPr id="6" name="AUTO_title_underline"/>
          <p:cNvSpPr/>
          <p:nvPr/>
        </p:nvSpPr>
        <p:spPr>
          <a:xfrm>
            <a:off x="658368" y="1417320"/>
            <a:ext cx="1051560" cy="32004"/>
          </a:xfrm>
          <a:prstGeom prst="rect">
            <a:avLst/>
          </a:prstGeom>
          <a:solidFill>
            <a:srgbClr val="BC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AUTO_fig7" descr="fig7_ico104_structures_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2900" y="1737360"/>
            <a:ext cx="2416398" cy="4343400"/>
          </a:xfrm>
          <a:prstGeom prst="rect">
            <a:avLst/>
          </a:prstGeom>
        </p:spPr>
      </p:pic>
      <p:sp>
        <p:nvSpPr>
          <p:cNvPr id="8" name="AUTO_footer"/>
          <p:cNvSpPr txBox="1"/>
          <p:nvPr/>
        </p:nvSpPr>
        <p:spPr>
          <a:xfrm>
            <a:off x="6217920" y="6510528"/>
            <a:ext cx="51663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sz="650" b="0">
                <a:solidFill>
                  <a:srgbClr val="787878"/>
                </a:solidFill>
                <a:latin typeface="Calibri"/>
              </a:rPr>
              <a:t>Source: Hermet et al., PLOS Pathogens 2023; doi:10.1371/journal.ppat.1011532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_meaning_left"/>
          <p:cNvSpPr>
            <a:spLocks noGrp="1"/>
          </p:cNvSpPr>
          <p:nvPr>
            <p:ph sz="half" idx="1"/>
          </p:nvPr>
        </p:nvSpPr>
        <p:spPr/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700" b="0">
                <a:solidFill>
                  <a:srgbClr val="262626"/>
                </a:solidFill>
                <a:latin typeface="Calibri"/>
              </a:rPr>
              <a:t>Advances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sz="1700" b="0">
                <a:solidFill>
                  <a:srgbClr val="262626"/>
                </a:solidFill>
                <a:latin typeface="Calibri"/>
              </a:rPr>
              <a:t>Pan-VoC neutralization tied to a conserved Spike/RBD epitope.</a:t>
            </a:r>
          </a:p>
          <a:p>
            <a:pPr marL="0" indent="0" algn="l">
              <a:spcAft>
                <a:spcPts val="600"/>
              </a:spcAft>
              <a:buNone/>
            </a:pPr>
            <a:endParaRPr sz="1700" b="0">
              <a:solidFill>
                <a:srgbClr val="262626"/>
              </a:solidFill>
              <a:latin typeface="Calibri"/>
            </a:endParaRPr>
          </a:p>
          <a:p>
            <a:pPr marL="0" indent="0" algn="l">
              <a:spcAft>
                <a:spcPts val="600"/>
              </a:spcAft>
              <a:buNone/>
            </a:pPr>
            <a:r>
              <a:rPr sz="1700" b="0">
                <a:solidFill>
                  <a:srgbClr val="262626"/>
                </a:solidFill>
                <a:latin typeface="Calibri"/>
              </a:rPr>
              <a:t>A clinically used vibrating-mesh device preserved mAb integrity and activity.</a:t>
            </a:r>
          </a:p>
          <a:p>
            <a:pPr marL="0" indent="0" algn="l">
              <a:spcAft>
                <a:spcPts val="600"/>
              </a:spcAft>
              <a:buNone/>
            </a:pPr>
            <a:endParaRPr sz="1700" b="0">
              <a:solidFill>
                <a:srgbClr val="262626"/>
              </a:solidFill>
              <a:latin typeface="Calibri"/>
            </a:endParaRPr>
          </a:p>
          <a:p>
            <a:pPr marL="0" indent="0" algn="l">
              <a:spcAft>
                <a:spcPts val="600"/>
              </a:spcAft>
              <a:buNone/>
            </a:pPr>
            <a:r>
              <a:rPr sz="1700" b="0">
                <a:solidFill>
                  <a:srgbClr val="262626"/>
                </a:solidFill>
                <a:latin typeface="Calibri"/>
              </a:rPr>
              <a:t>Therapeutic inhalation achieved local lung exposure and lowered viral load in a preclinical NHP model.</a:t>
            </a:r>
          </a:p>
        </p:txBody>
      </p:sp>
      <p:sp>
        <p:nvSpPr>
          <p:cNvPr id="3" name="AUTO_meaning_right"/>
          <p:cNvSpPr>
            <a:spLocks noGrp="1"/>
          </p:cNvSpPr>
          <p:nvPr>
            <p:ph sz="half" idx="2"/>
          </p:nvPr>
        </p:nvSpPr>
        <p:spPr/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700" b="0">
                <a:solidFill>
                  <a:srgbClr val="262626"/>
                </a:solidFill>
                <a:latin typeface="Calibri"/>
              </a:rPr>
              <a:t>What remains to prove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sz="1700" b="0">
                <a:solidFill>
                  <a:srgbClr val="262626"/>
                </a:solidFill>
                <a:latin typeface="Calibri"/>
              </a:rPr>
              <a:t>Clinical safety, tolerability, and dose need human study.</a:t>
            </a:r>
          </a:p>
          <a:p>
            <a:pPr marL="0" indent="0" algn="l">
              <a:spcAft>
                <a:spcPts val="600"/>
              </a:spcAft>
              <a:buNone/>
            </a:pPr>
            <a:endParaRPr sz="1700" b="0">
              <a:solidFill>
                <a:srgbClr val="262626"/>
              </a:solidFill>
              <a:latin typeface="Calibri"/>
            </a:endParaRPr>
          </a:p>
          <a:p>
            <a:pPr marL="0" indent="0" algn="l">
              <a:spcAft>
                <a:spcPts val="600"/>
              </a:spcAft>
              <a:buNone/>
            </a:pPr>
            <a:r>
              <a:rPr sz="1700" b="0">
                <a:solidFill>
                  <a:srgbClr val="262626"/>
                </a:solidFill>
                <a:latin typeface="Calibri"/>
              </a:rPr>
              <a:t>The NHP efficacy cohort was small and used historical controls.</a:t>
            </a:r>
          </a:p>
          <a:p>
            <a:pPr marL="0" indent="0" algn="l">
              <a:spcAft>
                <a:spcPts val="600"/>
              </a:spcAft>
              <a:buNone/>
            </a:pPr>
            <a:endParaRPr sz="1700" b="0">
              <a:solidFill>
                <a:srgbClr val="262626"/>
              </a:solidFill>
              <a:latin typeface="Calibri"/>
            </a:endParaRPr>
          </a:p>
          <a:p>
            <a:pPr marL="0" indent="0" algn="l">
              <a:spcAft>
                <a:spcPts val="600"/>
              </a:spcAft>
              <a:buNone/>
            </a:pPr>
            <a:r>
              <a:rPr sz="1700" b="0">
                <a:solidFill>
                  <a:srgbClr val="262626"/>
                </a:solidFill>
                <a:latin typeface="Calibri"/>
              </a:rPr>
              <a:t>The authors note escape could still emerge through mutations outside the mapped epitope.</a:t>
            </a:r>
          </a:p>
        </p:txBody>
      </p:sp>
      <p:sp>
        <p:nvSpPr>
          <p:cNvPr id="4" name="AUTO_title"/>
          <p:cNvSpPr>
            <a:spLocks noGrp="1"/>
          </p:cNvSpPr>
          <p:nvPr>
            <p:ph type="title"/>
          </p:nvPr>
        </p:nvSpPr>
        <p:spPr>
          <a:xfrm>
            <a:off x="658368" y="338328"/>
            <a:ext cx="10698480" cy="713232"/>
          </a:xfrm>
        </p:spPr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3100" b="1">
                <a:solidFill>
                  <a:srgbClr val="262626"/>
                </a:solidFill>
                <a:latin typeface="Calibri"/>
              </a:rPr>
              <a:t>What it means</a:t>
            </a:r>
          </a:p>
        </p:txBody>
      </p:sp>
      <p:sp>
        <p:nvSpPr>
          <p:cNvPr id="5" name="AUTO_title_underline"/>
          <p:cNvSpPr/>
          <p:nvPr/>
        </p:nvSpPr>
        <p:spPr>
          <a:xfrm>
            <a:off x="658368" y="1417320"/>
            <a:ext cx="1051560" cy="32004"/>
          </a:xfrm>
          <a:prstGeom prst="rect">
            <a:avLst/>
          </a:prstGeom>
          <a:solidFill>
            <a:srgbClr val="BC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UTO_footer"/>
          <p:cNvSpPr txBox="1"/>
          <p:nvPr/>
        </p:nvSpPr>
        <p:spPr>
          <a:xfrm>
            <a:off x="6217920" y="6510528"/>
            <a:ext cx="51663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sz="650" b="0">
                <a:solidFill>
                  <a:srgbClr val="787878"/>
                </a:solidFill>
                <a:latin typeface="Calibri"/>
              </a:rPr>
              <a:t>Source: Hermet et al., PLOS Pathogens 2023; doi:10.1371/journal.ppat.1011532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_takeaway"/>
          <p:cNvSpPr>
            <a:spLocks noGrp="1"/>
          </p:cNvSpPr>
          <p:nvPr>
            <p:ph type="body" idx="1"/>
          </p:nvPr>
        </p:nvSpPr>
        <p:spPr/>
        <p:txBody>
          <a:bodyPr wrap="square" lIns="27432" tIns="18288" rIns="27432" bIns="18288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780" b="0">
                <a:solidFill>
                  <a:srgbClr val="FFFFFF"/>
                </a:solidFill>
                <a:latin typeface="Calibri"/>
              </a:rPr>
              <a:t>ICO-hu104 reframes mAb delivery for respiratory viruses: neutralize broadly, deliver locally, and reduce replication at the site of infection.</a:t>
            </a:r>
          </a:p>
        </p:txBody>
      </p:sp>
      <p:sp>
        <p:nvSpPr>
          <p:cNvPr id="3" name="AUTO_takeaway_note"/>
          <p:cNvSpPr>
            <a:spLocks noGrp="1"/>
          </p:cNvSpPr>
          <p:nvPr>
            <p:ph type="body" idx="13"/>
          </p:nvPr>
        </p:nvSpPr>
        <p:spPr/>
        <p:txBody>
          <a:bodyPr wrap="square" lIns="27432" tIns="18288" rIns="27432" bIns="18288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1250" b="0">
                <a:solidFill>
                  <a:srgbClr val="FFFFFF"/>
                </a:solidFill>
                <a:latin typeface="Calibri"/>
              </a:rPr>
              <a:t>Preclinical evidence in SARS-CoV-2 Delta-challenged cynomolgus macaques.</a:t>
            </a:r>
          </a:p>
        </p:txBody>
      </p:sp>
      <p:sp>
        <p:nvSpPr>
          <p:cNvPr id="4" name="AUTO_title"/>
          <p:cNvSpPr>
            <a:spLocks noGrp="1"/>
          </p:cNvSpPr>
          <p:nvPr>
            <p:ph type="title"/>
          </p:nvPr>
        </p:nvSpPr>
        <p:spPr/>
        <p:txBody>
          <a:bodyPr wrap="square" lIns="27432" tIns="18288" rIns="27432" bIns="18288" anchor="t"/>
          <a:lstStyle/>
          <a:p>
            <a:pPr marL="0" indent="0" algn="l">
              <a:spcAft>
                <a:spcPts val="600"/>
              </a:spcAft>
              <a:buNone/>
            </a:pPr>
            <a:r>
              <a:rPr sz="380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cosagen">
      <a:dk1>
        <a:srgbClr val="363738"/>
      </a:dk1>
      <a:lt1>
        <a:srgbClr val="FFFFFF"/>
      </a:lt1>
      <a:dk2>
        <a:srgbClr val="6D6E71"/>
      </a:dk2>
      <a:lt2>
        <a:srgbClr val="FFFFFF"/>
      </a:lt2>
      <a:accent1>
        <a:srgbClr val="A71930"/>
      </a:accent1>
      <a:accent2>
        <a:srgbClr val="D52B1E"/>
      </a:accent2>
      <a:accent3>
        <a:srgbClr val="6D6E71"/>
      </a:accent3>
      <a:accent4>
        <a:srgbClr val="D1D3D4"/>
      </a:accent4>
      <a:accent5>
        <a:srgbClr val="468160"/>
      </a:accent5>
      <a:accent6>
        <a:srgbClr val="AD1125"/>
      </a:accent6>
      <a:hlink>
        <a:srgbClr val="FFFFFF"/>
      </a:hlink>
      <a:folHlink>
        <a:srgbClr val="FFFFFF"/>
      </a:folHlink>
    </a:clrScheme>
    <a:fontScheme name="Icosagen 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osagen slides template 2026" id="{AC2B8190-1A20-4844-A934-AB0C1BFF4827}" vid="{224A3D10-23FE-4862-9CC1-E26B608A80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42169F001A2F4B9C451C5841F744E4" ma:contentTypeVersion="13" ma:contentTypeDescription="Create a new document." ma:contentTypeScope="" ma:versionID="a230064bbda22ee7a9e873cec57c43a8">
  <xsd:schema xmlns:xsd="http://www.w3.org/2001/XMLSchema" xmlns:xs="http://www.w3.org/2001/XMLSchema" xmlns:p="http://schemas.microsoft.com/office/2006/metadata/properties" xmlns:ns2="69bb39e4-9e1d-40b2-a19b-595eaf90860b" xmlns:ns3="5da713d5-fe66-4fdc-bc3b-6ce8bac2bb49" targetNamespace="http://schemas.microsoft.com/office/2006/metadata/properties" ma:root="true" ma:fieldsID="2b21d18c70ef1a2833901cd15153dea6" ns2:_="" ns3:_="">
    <xsd:import namespace="69bb39e4-9e1d-40b2-a19b-595eaf90860b"/>
    <xsd:import namespace="5da713d5-fe66-4fdc-bc3b-6ce8bac2bb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bb39e4-9e1d-40b2-a19b-595eaf9086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589c0410-f6d5-4bb2-946e-3672772a52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a713d5-fe66-4fdc-bc3b-6ce8bac2bb4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d443559f-c804-4b7e-97e4-7d7cbc9e796f}" ma:internalName="TaxCatchAll" ma:showField="CatchAllData" ma:web="5da713d5-fe66-4fdc-bc3b-6ce8bac2bb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001416-DC15-4FDA-8C31-CD136E074A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bb39e4-9e1d-40b2-a19b-595eaf90860b"/>
    <ds:schemaRef ds:uri="5da713d5-fe66-4fdc-bc3b-6ce8bac2bb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A1A3C03-C42B-4322-B9DC-62F802BF44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</TotalTime>
  <Words>885</Words>
  <Application>Microsoft Macintosh PowerPoint</Application>
  <PresentationFormat>Widescreen</PresentationFormat>
  <Paragraphs>107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Calibri Light</vt:lpstr>
      <vt:lpstr>Arial</vt:lpstr>
      <vt:lpstr>Office Theme</vt:lpstr>
      <vt:lpstr>Inhaled ICO-hu104 for SARS-CoV-2</vt:lpstr>
      <vt:lpstr>Core message</vt:lpstr>
      <vt:lpstr>Why this study was needed</vt:lpstr>
      <vt:lpstr>Discovery workflow</vt:lpstr>
      <vt:lpstr>Variant breadth</vt:lpstr>
      <vt:lpstr>Non-human primate challenge design</vt:lpstr>
      <vt:lpstr>Nebulization quality</vt:lpstr>
      <vt:lpstr>Exposure where virus replicates</vt:lpstr>
      <vt:lpstr>Antiviral protection in macaques</vt:lpstr>
      <vt:lpstr>Exposure-response supports pharmacology</vt:lpstr>
      <vt:lpstr>Conserved epitope explains breadth</vt:lpstr>
      <vt:lpstr>What it means</vt:lpstr>
      <vt:lpstr>Takeaway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Tomi Lahe</dc:creator>
  <cp:lastModifiedBy>Tomi Lahe</cp:lastModifiedBy>
  <cp:revision>1</cp:revision>
  <cp:lastPrinted>2023-03-17T13:05:21Z</cp:lastPrinted>
  <dcterms:created xsi:type="dcterms:W3CDTF">2026-05-04T16:35:03Z</dcterms:created>
  <dcterms:modified xsi:type="dcterms:W3CDTF">2026-05-11T14:16:03Z</dcterms:modified>
</cp:coreProperties>
</file>