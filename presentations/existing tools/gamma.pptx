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Sora Light" pitchFamily="2" charset="0"/>
      <p:regular r:id="rId13"/>
    </p:embeddedFont>
    <p:embeddedFont>
      <p:font typeface="Sora Semi Bold" pitchFamily="2" charset="0"/>
      <p:regular r:id="rId14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3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082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E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254249"/>
            <a:ext cx="4767114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Broadly Neutralizing Antibody Delivered via Inhalation Protects Against SARS-CoV-2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3239095"/>
            <a:ext cx="47671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novel humanized antibody targets a conserved epitope on Spike protein, providing pan-neutralizing protection through inhalation-based delivery in non-human primates.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945654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902943" y="1594172"/>
            <a:ext cx="2315840" cy="1450851"/>
          </a:xfrm>
          <a:prstGeom prst="roundRect">
            <a:avLst>
              <a:gd name="adj" fmla="val 3920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EE"/>
          </a:p>
        </p:txBody>
      </p:sp>
      <p:sp>
        <p:nvSpPr>
          <p:cNvPr id="5" name="Text 2"/>
          <p:cNvSpPr/>
          <p:nvPr/>
        </p:nvSpPr>
        <p:spPr>
          <a:xfrm>
            <a:off x="4043065" y="173429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Variant Evolution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43065" y="2038127"/>
            <a:ext cx="203559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Emerging variants of concern (VoCs) with mutations in Spike protein limit antibody efficacy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54142" y="1594172"/>
            <a:ext cx="2315914" cy="1450851"/>
          </a:xfrm>
          <a:prstGeom prst="roundRect">
            <a:avLst>
              <a:gd name="adj" fmla="val 3920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EE"/>
          </a:p>
        </p:txBody>
      </p:sp>
      <p:sp>
        <p:nvSpPr>
          <p:cNvPr id="8" name="Text 5"/>
          <p:cNvSpPr/>
          <p:nvPr/>
        </p:nvSpPr>
        <p:spPr>
          <a:xfrm>
            <a:off x="6494264" y="1734294"/>
            <a:ext cx="182939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Delivery Limitations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94264" y="2038127"/>
            <a:ext cx="2035671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Systemic IV administration results in low antibody concentrations in respiratory mucosa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02943" y="3180383"/>
            <a:ext cx="4767114" cy="1017463"/>
          </a:xfrm>
          <a:prstGeom prst="roundRect">
            <a:avLst>
              <a:gd name="adj" fmla="val 5590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EE"/>
          </a:p>
        </p:txBody>
      </p:sp>
      <p:sp>
        <p:nvSpPr>
          <p:cNvPr id="11" name="Text 8"/>
          <p:cNvSpPr/>
          <p:nvPr/>
        </p:nvSpPr>
        <p:spPr>
          <a:xfrm>
            <a:off x="4043065" y="332050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Access Barriers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43065" y="3624337"/>
            <a:ext cx="448687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Complex IV procedures limit broad clinical application and rapid treatment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259830"/>
            <a:ext cx="3592562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Research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2043708"/>
            <a:ext cx="180930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Antibody Discovery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3943" y="2401714"/>
            <a:ext cx="393285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Isolated antibodies from convalescent patients and immunized rabbits using HybriFree platform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3943" y="297046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Humanization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3943" y="3328467"/>
            <a:ext cx="393285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Developed ICO-hu104 antibody with &gt;85% humanization score for therapeutic use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41962" y="2043708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Delivery Method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41962" y="2401714"/>
            <a:ext cx="393285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Tested vibrating mesh nebulization for inhalation-based antibody delivery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41962" y="297046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41962" y="3328467"/>
            <a:ext cx="393285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Evaluated in Syrian golden hamsters and non-human primate viral challenge studies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468511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ICO-hu104: A Pan-Neutralizing Antibody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1630114"/>
            <a:ext cx="22989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&lt;1nM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4161532" y="224611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IC50 Values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902943" y="2549947"/>
            <a:ext cx="229894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Sub-nanomolar neutralization against all tested variants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371109" y="1630114"/>
            <a:ext cx="22989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6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6629698" y="224611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Variants Tested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71109" y="2549947"/>
            <a:ext cx="229894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Wuhan, Alpha, Beta, Delta, Omicron, Omicron BA.2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137026" y="3321769"/>
            <a:ext cx="22989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0.033nM</a:t>
            </a:r>
            <a:endParaRPr lang="en-US" sz="3500" dirty="0"/>
          </a:p>
        </p:txBody>
      </p:sp>
      <p:sp>
        <p:nvSpPr>
          <p:cNvPr id="11" name="Text 8"/>
          <p:cNvSpPr/>
          <p:nvPr/>
        </p:nvSpPr>
        <p:spPr>
          <a:xfrm>
            <a:off x="5395615" y="393776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Best IC50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37026" y="4241602"/>
            <a:ext cx="229894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Alpha variant neutralization potency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473919"/>
            <a:ext cx="502875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Conserved Epitope Binding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3943" y="2190155"/>
            <a:ext cx="2641774" cy="1479426"/>
          </a:xfrm>
          <a:prstGeom prst="roundRect">
            <a:avLst>
              <a:gd name="adj" fmla="val 6181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EE"/>
          </a:p>
        </p:txBody>
      </p:sp>
      <p:sp>
        <p:nvSpPr>
          <p:cNvPr id="4" name="Shape 2"/>
          <p:cNvSpPr/>
          <p:nvPr/>
        </p:nvSpPr>
        <p:spPr>
          <a:xfrm>
            <a:off x="454893" y="2190155"/>
            <a:ext cx="76200" cy="1479426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EE"/>
          </a:p>
        </p:txBody>
      </p:sp>
      <p:sp>
        <p:nvSpPr>
          <p:cNvPr id="5" name="Text 3"/>
          <p:cNvSpPr/>
          <p:nvPr/>
        </p:nvSpPr>
        <p:spPr>
          <a:xfrm>
            <a:off x="685502" y="234456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Epitope Location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502" y="2648396"/>
            <a:ext cx="2275805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Binds to exposed beta sheet in RBD, distal from common orthosteric sites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51076" y="2190155"/>
            <a:ext cx="2641774" cy="1479426"/>
          </a:xfrm>
          <a:prstGeom prst="roundRect">
            <a:avLst>
              <a:gd name="adj" fmla="val 6181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EE"/>
          </a:p>
        </p:txBody>
      </p:sp>
      <p:sp>
        <p:nvSpPr>
          <p:cNvPr id="8" name="Shape 6"/>
          <p:cNvSpPr/>
          <p:nvPr/>
        </p:nvSpPr>
        <p:spPr>
          <a:xfrm>
            <a:off x="3232026" y="2190155"/>
            <a:ext cx="76200" cy="1479426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EE"/>
          </a:p>
        </p:txBody>
      </p:sp>
      <p:sp>
        <p:nvSpPr>
          <p:cNvPr id="9" name="Text 7"/>
          <p:cNvSpPr/>
          <p:nvPr/>
        </p:nvSpPr>
        <p:spPr>
          <a:xfrm>
            <a:off x="3462635" y="234456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Conservation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62635" y="2648396"/>
            <a:ext cx="2275805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Zero mutations distinguish Wuhan from Omicron at binding site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28209" y="2190155"/>
            <a:ext cx="2641848" cy="1479426"/>
          </a:xfrm>
          <a:prstGeom prst="roundRect">
            <a:avLst>
              <a:gd name="adj" fmla="val 6181"/>
            </a:avLst>
          </a:prstGeom>
          <a:solidFill>
            <a:srgbClr val="FFFFFF"/>
          </a:solidFill>
          <a:ln w="1905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EE"/>
          </a:p>
        </p:txBody>
      </p:sp>
      <p:sp>
        <p:nvSpPr>
          <p:cNvPr id="12" name="Shape 10"/>
          <p:cNvSpPr/>
          <p:nvPr/>
        </p:nvSpPr>
        <p:spPr>
          <a:xfrm>
            <a:off x="6009159" y="2190155"/>
            <a:ext cx="76200" cy="1479426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EE"/>
          </a:p>
        </p:txBody>
      </p:sp>
      <p:sp>
        <p:nvSpPr>
          <p:cNvPr id="13" name="Text 11"/>
          <p:cNvSpPr/>
          <p:nvPr/>
        </p:nvSpPr>
        <p:spPr>
          <a:xfrm>
            <a:off x="6239768" y="234456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Mechanism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39768" y="2648396"/>
            <a:ext cx="227588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Hydrogen-deuterium exchange mass spectrometry confirmed binding regions 433-443 and 497-502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904801"/>
            <a:ext cx="4566270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Nebulization Technology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688678"/>
            <a:ext cx="206082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Vibrating Mesh Device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3943" y="2046684"/>
            <a:ext cx="478549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Aeroneb Solo nebulizer adapted for macaque facemask delivery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3943" y="239873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Particle Size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3943" y="2756743"/>
            <a:ext cx="478549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MMAD approximately 4 µm ensures optimal respiratory tract deposition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3943" y="3325490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Integrity Retention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3943" y="3683496"/>
            <a:ext cx="478549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Analytical size-exclusion chromatography confirmed antibody stability post-nebulization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94598" y="2023318"/>
            <a:ext cx="3080147" cy="17453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806053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Antibody Distribution: Nebulization vs. IV</a:t>
            </a:r>
            <a:endParaRPr lang="en-US" sz="2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2943" y="1900014"/>
            <a:ext cx="677019" cy="8124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5321" y="2035373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IV Route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715321" y="2339206"/>
            <a:ext cx="395473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100-fold higher systemic serum concentration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2943" y="2712467"/>
            <a:ext cx="677019" cy="8124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15321" y="2847826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Nebulization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715321" y="3151659"/>
            <a:ext cx="395473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66-fold higher concentration in bronchoalveolar lavage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2943" y="3524920"/>
            <a:ext cx="677019" cy="8124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15321" y="366027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Target Tissue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4715321" y="3964112"/>
            <a:ext cx="395473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Superior lung delivery where viral replication occurs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543446"/>
            <a:ext cx="5318447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Viral Load Reduction in NHPs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714" y="2139776"/>
            <a:ext cx="1665536" cy="338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2.7x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953" y="1293465"/>
            <a:ext cx="2031206" cy="20312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9825" y="3493815"/>
            <a:ext cx="2087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Nasopharyngeal gRNA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3943" y="3797647"/>
            <a:ext cx="261922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Reduction vs. controls (IV, p&lt;0.01)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739158" y="2139776"/>
            <a:ext cx="1665536" cy="338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2.1x</a:t>
            </a:r>
            <a:endParaRPr lang="en-US" sz="2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6397" y="1293465"/>
            <a:ext cx="2031206" cy="20312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28268" y="3493815"/>
            <a:ext cx="2087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Nasopharyngeal gRNA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262387" y="3797647"/>
            <a:ext cx="261922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Reduction vs. controls (Neb, p&lt;0.05)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527602" y="2139776"/>
            <a:ext cx="1665536" cy="338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10x</a:t>
            </a:r>
            <a:endParaRPr lang="en-US" sz="26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44841" y="1293465"/>
            <a:ext cx="2031206" cy="20312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69559" y="3493815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BAL gRNA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050831" y="3797647"/>
            <a:ext cx="261922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Lower viral load at day 3 (both routes, p&lt;0.01)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73943" y="4383360"/>
            <a:ext cx="81961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Significantly reduced viral loads in upper and lower respiratory tracts 2-4 days post-treatment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294507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3943" y="2010742"/>
            <a:ext cx="304651" cy="304651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EE"/>
          </a:p>
        </p:txBody>
      </p:sp>
      <p:sp>
        <p:nvSpPr>
          <p:cNvPr id="4" name="Text 2"/>
          <p:cNvSpPr/>
          <p:nvPr/>
        </p:nvSpPr>
        <p:spPr>
          <a:xfrm>
            <a:off x="519373" y="2029458"/>
            <a:ext cx="213792" cy="2672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13954" y="2057251"/>
            <a:ext cx="231331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Pan-Neutralizing Activity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3954" y="2361084"/>
            <a:ext cx="357343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ICO-hu104 maintains sub-nanomolar IC50 values against all VoCs including Omicron subvariants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6609" y="2010742"/>
            <a:ext cx="304651" cy="304651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EE"/>
          </a:p>
        </p:txBody>
      </p:sp>
      <p:sp>
        <p:nvSpPr>
          <p:cNvPr id="8" name="Text 6"/>
          <p:cNvSpPr/>
          <p:nvPr/>
        </p:nvSpPr>
        <p:spPr>
          <a:xfrm>
            <a:off x="4702039" y="2029458"/>
            <a:ext cx="213792" cy="2672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096619" y="2057251"/>
            <a:ext cx="207295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Superior Lung Delivery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96619" y="2361084"/>
            <a:ext cx="357343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Nebulization achieves 66-fold higher antibody concentrations in BAL vs. IV administration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3943" y="3065264"/>
            <a:ext cx="304651" cy="304651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EE"/>
          </a:p>
        </p:txBody>
      </p:sp>
      <p:sp>
        <p:nvSpPr>
          <p:cNvPr id="12" name="Text 10"/>
          <p:cNvSpPr/>
          <p:nvPr/>
        </p:nvSpPr>
        <p:spPr>
          <a:xfrm>
            <a:off x="519373" y="3083979"/>
            <a:ext cx="213792" cy="2672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3954" y="3111773"/>
            <a:ext cx="2251472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Effective Viral Reduction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3954" y="3415605"/>
            <a:ext cx="357343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Significant decrease in viral loads in upper and lower respiratory tracts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56609" y="3065264"/>
            <a:ext cx="304651" cy="304651"/>
          </a:xfrm>
          <a:prstGeom prst="roundRect">
            <a:avLst>
              <a:gd name="adj" fmla="val 18669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EE"/>
          </a:p>
        </p:txBody>
      </p:sp>
      <p:sp>
        <p:nvSpPr>
          <p:cNvPr id="16" name="Text 14"/>
          <p:cNvSpPr/>
          <p:nvPr/>
        </p:nvSpPr>
        <p:spPr>
          <a:xfrm>
            <a:off x="4702039" y="3083979"/>
            <a:ext cx="213792" cy="2672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096619" y="3111773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Clinical Potential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96619" y="3415605"/>
            <a:ext cx="357343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Non-invasive inhalation approach enables rapid, accessible antibody delivery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617786"/>
            <a:ext cx="35634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Future Implications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902943" y="1266304"/>
            <a:ext cx="2315840" cy="1781696"/>
          </a:xfrm>
          <a:prstGeom prst="roundRect">
            <a:avLst>
              <a:gd name="adj" fmla="val 3192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EE"/>
          </a:p>
        </p:txBody>
      </p:sp>
      <p:sp>
        <p:nvSpPr>
          <p:cNvPr id="5" name="Shape 2"/>
          <p:cNvSpPr/>
          <p:nvPr/>
        </p:nvSpPr>
        <p:spPr>
          <a:xfrm>
            <a:off x="4043065" y="1406426"/>
            <a:ext cx="406226" cy="406226"/>
          </a:xfrm>
          <a:prstGeom prst="roundRect">
            <a:avLst>
              <a:gd name="adj" fmla="val 14067117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E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4760" y="1518121"/>
            <a:ext cx="182761" cy="1827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43065" y="194801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Prophylaxis Option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043065" y="2251844"/>
            <a:ext cx="2035597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Rapid antibody delivery for vulnerable populations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354142" y="1266304"/>
            <a:ext cx="2315914" cy="1781696"/>
          </a:xfrm>
          <a:prstGeom prst="roundRect">
            <a:avLst>
              <a:gd name="adj" fmla="val 3192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EE"/>
          </a:p>
        </p:txBody>
      </p:sp>
      <p:sp>
        <p:nvSpPr>
          <p:cNvPr id="10" name="Shape 6"/>
          <p:cNvSpPr/>
          <p:nvPr/>
        </p:nvSpPr>
        <p:spPr>
          <a:xfrm>
            <a:off x="6494264" y="1406426"/>
            <a:ext cx="406226" cy="406226"/>
          </a:xfrm>
          <a:prstGeom prst="roundRect">
            <a:avLst>
              <a:gd name="adj" fmla="val 14067117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EE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5960" y="1518121"/>
            <a:ext cx="182761" cy="1827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94264" y="1948011"/>
            <a:ext cx="203567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Respiratory Pathogens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494264" y="2474491"/>
            <a:ext cx="203567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Blueprint for targeting emerging respiratory viruses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902943" y="3183359"/>
            <a:ext cx="4767114" cy="1342355"/>
          </a:xfrm>
          <a:prstGeom prst="roundRect">
            <a:avLst>
              <a:gd name="adj" fmla="val 4237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EE"/>
          </a:p>
        </p:txBody>
      </p:sp>
      <p:sp>
        <p:nvSpPr>
          <p:cNvPr id="15" name="Shape 10"/>
          <p:cNvSpPr/>
          <p:nvPr/>
        </p:nvSpPr>
        <p:spPr>
          <a:xfrm>
            <a:off x="4043065" y="3323481"/>
            <a:ext cx="406226" cy="406226"/>
          </a:xfrm>
          <a:prstGeom prst="roundRect">
            <a:avLst>
              <a:gd name="adj" fmla="val 14067117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EE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54760" y="3435176"/>
            <a:ext cx="182761" cy="18276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43065" y="3865066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043065" y="4168899"/>
            <a:ext cx="448687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Non-invasive method reduces clinical barriers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422</Words>
  <Application>Microsoft Macintosh PowerPoint</Application>
  <PresentationFormat>On-screen Show (16:9)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Sora Light</vt:lpstr>
      <vt:lpstr>Sora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Tomi Lahe</cp:lastModifiedBy>
  <cp:revision>2</cp:revision>
  <dcterms:created xsi:type="dcterms:W3CDTF">2026-05-10T12:15:47Z</dcterms:created>
  <dcterms:modified xsi:type="dcterms:W3CDTF">2026-05-14T07:20:46Z</dcterms:modified>
</cp:coreProperties>
</file>