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Mean detection rate by condition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 smart glasses</c:v>
                </c:pt>
              </c:strCache>
            </c:strRef>
          </c:tx>
          <c:spPr>
            <a:solidFill>
              <a:srgbClr val="B41829"/>
            </a:solidFill>
          </c:spPr>
          <c:cat>
            <c:strRef>
              <c:f>Sheet1!$A$2:$A$3</c:f>
              <c:strCache>
                <c:ptCount val="2"/>
                <c:pt idx="0">
                  <c:v>Low load</c:v>
                </c:pt>
                <c:pt idx="1">
                  <c:v>High load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Smartphone</c:v>
                </c:pt>
              </c:strCache>
            </c:strRef>
          </c:tx>
          <c:spPr>
            <a:solidFill>
              <a:srgbClr val="4A4A4A"/>
            </a:solidFill>
          </c:spPr>
          <c:cat>
            <c:strRef>
              <c:f>Sheet1!$A$2:$A$3</c:f>
              <c:strCache>
                <c:ptCount val="2"/>
                <c:pt idx="0">
                  <c:v>Low load</c:v>
                </c:pt>
                <c:pt idx="1">
                  <c:v>High load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1.56</c:v>
                </c:pt>
                <c:pt idx="1">
                  <c:v>2.25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buNone/>
            </a:pPr>
            <a:r>
              <a:rPr sz="1800" i="1"/>
              <a:t>How smart glasses and cognitive load influence inattentional blindness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 wrap="square"/>
          <a:lstStyle/>
          <a:p>
            <a:pPr>
              <a:buNone/>
            </a:pPr>
            <a:r>
              <a:rPr sz="1200"/>
              <a:t>Group 9 — Marika Adson, Annabel Agasild, Karen Roht, Tomi Lahe, Ann Marleen Varul   |   Supervisor: Madis Vasser, PhD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Blinded by distraction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study this?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The gap</a:t>
            </a:r>
          </a:p>
          <a:p>
            <a:pPr>
              <a:buNone/>
            </a:pPr>
            <a:r>
              <a:rPr sz="1400"/>
              <a:t>Classic inattentional blindness paradigms work, but feel distant from how people actually move through the world.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The shift</a:t>
            </a:r>
          </a:p>
          <a:p>
            <a:pPr>
              <a:buNone/>
            </a:pPr>
            <a:r>
              <a:rPr sz="1400"/>
              <a:t>Phones already capture attention while walking. Smart glasses move that capture into the field of view.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Our angle</a:t>
            </a:r>
          </a:p>
          <a:p>
            <a:pPr>
              <a:buNone/>
            </a:pPr>
            <a:r>
              <a:rPr sz="1400"/>
              <a:t>Run an ecologically valid inattentional blindness paradigm in Mixed Reality, comparing simulated Meta smart glasses to a smartphone while walking a real corridor.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700" b="1"/>
              <a:t>Research question</a:t>
            </a:r>
          </a:p>
          <a:p>
            <a:pPr>
              <a:buNone/>
            </a:pPr>
            <a:r>
              <a:rPr sz="1600" i="1"/>
              <a:t>How does a simulation of Meta smart glasses usage affect inattentional blindness compared to smartphone usage while walking?</a:t>
            </a:r>
          </a:p>
          <a:p>
            <a:pPr>
              <a:buNone/>
            </a:pPr>
            <a:r>
              <a:rPr sz="800"/>
              <a:t> </a:t>
            </a:r>
          </a:p>
          <a:p>
            <a:pPr>
              <a:buNone/>
            </a:pPr>
            <a:r>
              <a:rPr sz="1700" b="1"/>
              <a:t>H0 — Null</a:t>
            </a:r>
          </a:p>
          <a:p>
            <a:pPr>
              <a:buNone/>
            </a:pPr>
            <a:r>
              <a:rPr sz="1500"/>
              <a:t>No statistically significant difference in IB between simulated smart glasses and smartphone use while walking.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700" b="1"/>
              <a:t>H1 — Main effect</a:t>
            </a:r>
          </a:p>
          <a:p>
            <a:pPr>
              <a:buNone/>
            </a:pPr>
            <a:r>
              <a:rPr sz="1500"/>
              <a:t>Simulated smart glasses increase IB more than smartphone use.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700" b="1"/>
              <a:t>H2 — Interaction</a:t>
            </a:r>
          </a:p>
          <a:p>
            <a:pPr>
              <a:buNone/>
            </a:pPr>
            <a:r>
              <a:rPr sz="1500"/>
              <a:t>Smart glasses combined with high cognitive load produce the strongest increase in IB.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and hypotheses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2 × 2 within-subjects design</a:t>
            </a:r>
          </a:p>
          <a:p>
            <a:pPr>
              <a:buNone/>
            </a:pPr>
            <a:r>
              <a:rPr sz="1400"/>
              <a:t>Device: simulated Meta smart glasses vs. smartphone</a:t>
            </a:r>
          </a:p>
          <a:p>
            <a:pPr>
              <a:buNone/>
            </a:pPr>
            <a:r>
              <a:rPr sz="1400"/>
              <a:t>Cognitive load: low vs. high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Conditions</a:t>
            </a:r>
          </a:p>
          <a:p>
            <a:pPr>
              <a:buNone/>
            </a:pPr>
            <a:r>
              <a:rPr sz="1400"/>
              <a:t>Meta–low,  Meta–high,  Phone–low,  Phone–high</a:t>
            </a:r>
          </a:p>
          <a:p>
            <a:pPr>
              <a:buNone/>
            </a:pPr>
            <a:r>
              <a:rPr sz="1400"/>
              <a:t>Each participant completed all four in counterbalanced order.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Primary measure</a:t>
            </a:r>
          </a:p>
          <a:p>
            <a:pPr>
              <a:buNone/>
            </a:pPr>
            <a:r>
              <a:rPr sz="1400"/>
              <a:t>Detection rate of unexpected, task-irrelevant objects (Red Bull cans, books) placed along the route.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Apparatus</a:t>
            </a:r>
          </a:p>
          <a:p>
            <a:pPr>
              <a:buNone/>
            </a:pPr>
            <a:r>
              <a:rPr sz="1400"/>
              <a:t>Meta Quest 3 with Mixed Reality scenario built in Unreal Engine.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Smart glasses condition</a:t>
            </a:r>
          </a:p>
          <a:p>
            <a:pPr>
              <a:buNone/>
            </a:pPr>
            <a:r>
              <a:rPr sz="1400"/>
              <a:t>Simulated heads-up display overlay in the field of view.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Smartphone condition</a:t>
            </a:r>
          </a:p>
          <a:p>
            <a:pPr>
              <a:buNone/>
            </a:pPr>
            <a:r>
              <a:rPr sz="1400"/>
              <a:t>Simulated phone interface held in hand.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Load manipulation</a:t>
            </a:r>
          </a:p>
          <a:p>
            <a:pPr>
              <a:buNone/>
            </a:pPr>
            <a:r>
              <a:rPr sz="1400"/>
              <a:t>Low: infrequent, simple content. High: frequent, complex, attention-demanding messages and videos.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400"/>
              <a:t>Each participant walked an L-shaped corridor in the Delta building while engaging with the assigned device task. Four blocks of ≈2 minutes each.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Each block</a:t>
            </a:r>
          </a:p>
          <a:p>
            <a:pPr>
              <a:buNone/>
            </a:pPr>
            <a:r>
              <a:rPr sz="1400"/>
              <a:t>Walk the route while attending to device content, then answer: (1) how many target objects did you notice? and (2) what colour were they? Followed by a 1–5 attention rating.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Counterbalancing</a:t>
            </a:r>
          </a:p>
          <a:p>
            <a:pPr>
              <a:buNone/>
            </a:pPr>
            <a:r>
              <a:rPr sz="1400"/>
              <a:t>Stimuli (cans vs. books) and question types were rotated to limit learning effects. Half the sample (n = 5) received content-comprehension control questions.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Sample</a:t>
            </a:r>
          </a:p>
          <a:p>
            <a:pPr>
              <a:buNone/>
            </a:pPr>
            <a:r>
              <a:rPr sz="1400"/>
              <a:t>10 participants ran the full protocol; 2 excluded due to a procedural issue (cleaners removed 4 cans mid-experiment). Final N = 8.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Analysis</a:t>
            </a:r>
          </a:p>
          <a:p>
            <a:pPr>
              <a:buNone/>
            </a:pPr>
            <a:r>
              <a:rPr sz="1400"/>
              <a:t>Repeated-measures ANOVA, Wilcoxon signed-rank tests, Spearman correlations (Python and R).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rates by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782" y="1825625"/>
            <a:ext cx="106980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Means and variability across the four conditions (N = 8). Detection rates were low and highly variable across participants.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18591" y="2328545"/>
          <a:ext cx="7772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B41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B41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Std. dev.</a:t>
                      </a:r>
                    </a:p>
                  </a:txBody>
                  <a:tcPr>
                    <a:solidFill>
                      <a:srgbClr val="B41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B418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</a:rPr>
                        <a:t>Meta–low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1.50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1.69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0–4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</a:rPr>
                        <a:t>Meta–high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3.70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0–10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</a:rPr>
                        <a:t>Phone–low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1.56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1.99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0–5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</a:rPr>
                        <a:t>Phone–high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2.92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</a:rPr>
                        <a:t>0–8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5782" y="4888865"/>
            <a:ext cx="106980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41829"/>
                </a:solidFill>
              </a:rPr>
              <a:t>Takeaway: </a:t>
            </a:r>
            <a:r>
              <a:rPr sz="1300"/>
              <a:t>high-load conditions trend slightly higher than low-load on both devices, but standard deviations are larger than the means — the pattern rides on individual variability, not a robust group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Repeated-measures ANOVA</a:t>
            </a:r>
          </a:p>
          <a:p>
            <a:pPr>
              <a:buNone/>
            </a:pPr>
            <a:r>
              <a:rPr sz="1400"/>
              <a:t>Device:           F = 0.09,  p = 0.77</a:t>
            </a:r>
          </a:p>
          <a:p>
            <a:pPr>
              <a:buNone/>
            </a:pPr>
            <a:r>
              <a:rPr sz="1400"/>
              <a:t>Load:             F = 1.47,  p = 0.27</a:t>
            </a:r>
          </a:p>
          <a:p>
            <a:pPr>
              <a:buNone/>
            </a:pPr>
            <a:r>
              <a:rPr sz="1400"/>
              <a:t>Device × Load:  F = 0.21,  p = 0.66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Follow-up tests</a:t>
            </a:r>
          </a:p>
          <a:p>
            <a:pPr>
              <a:buNone/>
            </a:pPr>
            <a:r>
              <a:rPr sz="1400"/>
              <a:t>Wilcoxon signed-rank: all paired comparisons non-significant (p ≥ 0.42).</a:t>
            </a:r>
          </a:p>
          <a:p>
            <a:pPr>
              <a:buNone/>
            </a:pPr>
            <a:r>
              <a:rPr sz="1400"/>
              <a:t>Spearman correlations between detection and self-rated attention or weekly screen time: all non-significant.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Bottom line</a:t>
            </a:r>
          </a:p>
          <a:p>
            <a:pPr>
              <a:buNone/>
            </a:pPr>
            <a:r>
              <a:rPr sz="1400" b="1"/>
              <a:t>The data support the null hypothesis. No main effects, no interaction.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reliable device or load effect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5782" y="1825625"/>
          <a:ext cx="5364018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What we found</a:t>
            </a:r>
          </a:p>
          <a:p>
            <a:pPr>
              <a:buNone/>
            </a:pPr>
            <a:r>
              <a:rPr sz="1400"/>
              <a:t>No reliable difference between Meta smart glasses and smartphone conditions.</a:t>
            </a:r>
          </a:p>
          <a:p>
            <a:pPr>
              <a:buNone/>
            </a:pPr>
            <a:r>
              <a:rPr sz="1400"/>
              <a:t>No main effect of cognitive load.</a:t>
            </a:r>
          </a:p>
          <a:p>
            <a:pPr>
              <a:buNone/>
            </a:pPr>
            <a:r>
              <a:rPr sz="1400"/>
              <a:t>No device × load interaction.</a:t>
            </a:r>
          </a:p>
          <a:p>
            <a:pPr>
              <a:buNone/>
            </a:pPr>
            <a:r>
              <a:rPr sz="1400"/>
              <a:t>Detection rates low across the board, with substantial between-subject variability.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Consistent with classic IB</a:t>
            </a:r>
          </a:p>
          <a:p>
            <a:pPr>
              <a:buNone/>
            </a:pPr>
            <a:r>
              <a:rPr sz="1400"/>
              <a:t>People reliably miss obvious stimuli when attention is elsewhere (Simons &amp; Chabris, 1999; Wolfe et al., 2022).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Why no device difference?</a:t>
            </a:r>
          </a:p>
          <a:p>
            <a:pPr>
              <a:buNone/>
            </a:pPr>
            <a:r>
              <a:rPr sz="1400"/>
              <a:t>Both conditions required continuous engagement with digital content. Both likely crossed a threshold of attentional capture sufficient to induce IB, making relative differences hard to detect.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Implication for design</a:t>
            </a:r>
          </a:p>
          <a:p>
            <a:pPr>
              <a:buNone/>
            </a:pPr>
            <a:r>
              <a:rPr sz="1400"/>
              <a:t>Risk depends less on the device label (phone vs. heads-up display) and more on the interaction load: frequency of interruptions, complexity of content, how much attention is pulled from navigation.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null result actually says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Strengths</a:t>
            </a:r>
          </a:p>
          <a:p>
            <a:pPr>
              <a:buNone/>
            </a:pPr>
            <a:r>
              <a:rPr sz="1400"/>
              <a:t>Mixed Reality walking paradigm grounded in a familiar university corridor — strong ecological validity.</a:t>
            </a:r>
          </a:p>
          <a:p>
            <a:pPr>
              <a:buNone/>
            </a:pPr>
            <a:r>
              <a:rPr sz="1400"/>
              <a:t>Counterbalanced, randomised within-subjects design minimised learning effects.</a:t>
            </a:r>
          </a:p>
          <a:p>
            <a:pPr>
              <a:buNone/>
            </a:pPr>
            <a:r>
              <a:rPr sz="1400"/>
              <a:t>Varied question types and rotated stimuli (cans and books) discouraged participants from learning the pattern.</a:t>
            </a:r>
          </a:p>
          <a:p>
            <a:pPr>
              <a:buNone/>
            </a:pPr>
            <a:r>
              <a:rPr sz="1400"/>
              <a:t>Everyday content types emulated realistic media consumption while walking.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Limitations</a:t>
            </a:r>
          </a:p>
          <a:p>
            <a:pPr>
              <a:buNone/>
            </a:pPr>
            <a:r>
              <a:rPr sz="1400"/>
              <a:t>Small sample (N = 8) and high variance limit statistical power.</a:t>
            </a:r>
          </a:p>
          <a:p>
            <a:pPr>
              <a:buNone/>
            </a:pPr>
            <a:r>
              <a:rPr sz="1400"/>
              <a:t>Cleaners removed 4 cans mid-experiment, requiring exclusion of 2 participants.</a:t>
            </a:r>
          </a:p>
          <a:p>
            <a:pPr>
              <a:buNone/>
            </a:pPr>
            <a:r>
              <a:rPr sz="1400"/>
              <a:t>Phone videos shown in landscape did not emulate Instagram or TikTok vertical UX.</a:t>
            </a:r>
          </a:p>
          <a:p>
            <a:pPr>
              <a:buNone/>
            </a:pPr>
            <a:r>
              <a:rPr sz="1400"/>
              <a:t>Cognitive load manipulation relied on subjective stimulus complexity rather than an objective load measure.</a:t>
            </a:r>
          </a:p>
          <a:p>
            <a:pPr>
              <a:buNone/>
            </a:pPr>
            <a:r>
              <a:rPr sz="1400"/>
              <a:t>Mixed Reality simulates but does not replace the real Meta smart glasses experience.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and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600" b="1"/>
              <a:t>Scale and statistical power</a:t>
            </a:r>
          </a:p>
          <a:p>
            <a:pPr>
              <a:buNone/>
            </a:pPr>
            <a:r>
              <a:rPr sz="1400"/>
              <a:t>A larger, more diverse sample would let individual differences in attention strategy and habitual technology use emerge as meaningful predictors rather than noise.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Better measurement</a:t>
            </a:r>
          </a:p>
          <a:p>
            <a:pPr>
              <a:buNone/>
            </a:pPr>
            <a:r>
              <a:rPr sz="1400"/>
              <a:t>Add objective measures — eye-tracking, reaction times, pupillometry — to triangulate self-report attention ratings and ground the cognitive load manipulation.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Riskier environments</a:t>
            </a:r>
          </a:p>
          <a:p>
            <a:pPr>
              <a:buNone/>
            </a:pPr>
            <a:r>
              <a:rPr sz="1400"/>
              <a:t>Move the paradigm outdoors, with traffic and real pedestrians, where the safety implications of wearable distraction are most consequential.</a:t>
            </a:r>
          </a:p>
          <a:p>
            <a:pPr>
              <a:buNone/>
            </a:pPr>
            <a:r>
              <a:rPr sz="600"/>
              <a:t> </a:t>
            </a:r>
          </a:p>
          <a:p>
            <a:pPr>
              <a:buNone/>
            </a:pPr>
            <a:r>
              <a:rPr sz="1600" b="1"/>
              <a:t>Compare interface design choices</a:t>
            </a:r>
          </a:p>
          <a:p>
            <a:pPr>
              <a:buNone/>
            </a:pPr>
            <a:r>
              <a:rPr sz="1400"/>
              <a:t>Where notifications appear in the HUD, how transparent they are, how persistent — these design decisions may matter more than the device category itself.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take this next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buNone/>
            </a:pPr>
            <a:r>
              <a:rPr sz="1400" b="1"/>
              <a:t>Group 9</a:t>
            </a:r>
          </a:p>
          <a:p>
            <a:pPr>
              <a:buNone/>
            </a:pPr>
            <a:r>
              <a:rPr sz="1400"/>
              <a:t>Marika Adson  ·  Annabel Agasild  ·  Karen Roht  ·  Tomi Lahe  ·  Ann Marleen Varul</a:t>
            </a:r>
          </a:p>
          <a:p>
            <a:pPr>
              <a:buNone/>
            </a:pPr>
            <a:r>
              <a:rPr sz="1400"/>
              <a:t>Supervisor: Madis Vasser, PhD</a:t>
            </a:r>
          </a:p>
          <a:p>
            <a:pPr>
              <a:buNone/>
            </a:pPr>
            <a:r>
              <a:rPr sz="800"/>
              <a:t> </a:t>
            </a:r>
          </a:p>
          <a:p>
            <a:pPr>
              <a:buNone/>
            </a:pPr>
            <a:r>
              <a:rPr sz="1400" b="1"/>
              <a:t>Key references</a:t>
            </a:r>
          </a:p>
          <a:p>
            <a:pPr>
              <a:buNone/>
            </a:pPr>
            <a:r>
              <a:rPr sz="1200"/>
              <a:t>Simons, D. J., &amp; Chabris, C. F. (1999). Gorillas in our midst. Perception, 28(9), 1059–1074.</a:t>
            </a:r>
          </a:p>
          <a:p>
            <a:pPr>
              <a:buNone/>
            </a:pPr>
            <a:r>
              <a:rPr sz="1200"/>
              <a:t>Wolfe, J. M., Kosovicheva, A., &amp; Wolfe, B. (2022). Normal blindness: When we look but fail to see. Trends in Cognitive Sciences.</a:t>
            </a:r>
          </a:p>
          <a:p>
            <a:pPr>
              <a:buNone/>
            </a:pPr>
            <a:r>
              <a:rPr sz="1200"/>
              <a:t>Vasser, M., &amp; Aru, J. (2020). Guidelines for immersive virtual reality in psychological research. Current Opinion in Psychology, 36, 128–134.</a:t>
            </a:r>
          </a:p>
          <a:p>
            <a:pPr>
              <a:buNone/>
            </a:pPr>
            <a:r>
              <a:rPr sz="1200"/>
              <a:t>Hirschhorn, R. (2024). Using virtual reality to induce multi-trial inattentional blindness. Behavior Research Methods.</a:t>
            </a:r>
          </a:p>
          <a:p>
            <a:pPr>
              <a:buNone/>
            </a:pPr>
            <a:r>
              <a:rPr sz="1200"/>
              <a:t>Appel, M., Krisch, N., Stein, J.-P., &amp; Weber, S. (2019). Smartphone zombies! Pedestrians’ distracted walking as a function of their fear of missing out. Journal of Environmental Psychology.</a:t>
            </a:r>
          </a:p>
          <a:p>
            <a:pPr>
              <a:buNone/>
            </a:pPr>
            <a:r>
              <a:rPr sz="1200"/>
              <a:t>Masters-Waage, T. C., et al. (2024). Social inattentional blindness to idea stealing in meetings. Scientific Reports, 14, 8060.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and key references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buNone/>
            </a:pPr>
            <a:r>
              <a:rPr sz="1800" i="1">
                <a:solidFill>
                  <a:srgbClr val="FFFFFF"/>
                </a:solidFill>
              </a:rPr>
              <a:t>Questions and discussion welcome.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 wrap="square"/>
          <a:lstStyle/>
          <a:p>
            <a:pPr>
              <a:buNone/>
            </a:pPr>
            <a:r>
              <a:rPr sz="1200">
                <a:solidFill>
                  <a:srgbClr val="FFFFFF"/>
                </a:solidFill>
              </a:rPr>
              <a:t>Group 9   ·   Tartu Ülikool   ·   Tehislik ja loomulik mõistus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